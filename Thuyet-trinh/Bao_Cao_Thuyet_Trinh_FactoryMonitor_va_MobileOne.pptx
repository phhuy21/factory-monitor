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6" d="100"/>
          <a:sy n="106" d="100"/>
        </p:scale>
        <p:origin x="75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7" name="Rounded Rectangle 6"/>
          <p:cNvSpPr/>
          <p:nvPr/>
        </p:nvSpPr>
        <p:spPr>
          <a:xfrm>
            <a:off x="1980599" y="1554480"/>
            <a:ext cx="7985760" cy="4366486"/>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301890" y="232448"/>
            <a:ext cx="9343178" cy="1097280"/>
          </a:xfrm>
          <a:prstGeom prst="roundRect">
            <a:avLst/>
          </a:prstGeom>
          <a:solidFill>
            <a:srgbClr val="1E293B"/>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oc2_image2.png"/>
          <p:cNvPicPr>
            <a:picLocks noChangeAspect="1"/>
          </p:cNvPicPr>
          <p:nvPr/>
        </p:nvPicPr>
        <p:blipFill>
          <a:blip r:embed="rId2"/>
          <a:stretch>
            <a:fillRect/>
          </a:stretch>
        </p:blipFill>
        <p:spPr>
          <a:xfrm>
            <a:off x="11094720" y="0"/>
            <a:ext cx="1097280" cy="1097280"/>
          </a:xfrm>
          <a:prstGeom prst="rect">
            <a:avLst/>
          </a:prstGeom>
        </p:spPr>
      </p:pic>
      <p:sp>
        <p:nvSpPr>
          <p:cNvPr id="4" name="TextBox 3"/>
          <p:cNvSpPr txBox="1"/>
          <p:nvPr/>
        </p:nvSpPr>
        <p:spPr>
          <a:xfrm>
            <a:off x="2118359" y="457200"/>
            <a:ext cx="7955279" cy="1188720"/>
          </a:xfrm>
          <a:prstGeom prst="rect">
            <a:avLst/>
          </a:prstGeom>
          <a:noFill/>
        </p:spPr>
        <p:txBody>
          <a:bodyPr wrap="square">
            <a:spAutoFit/>
          </a:bodyPr>
          <a:lstStyle/>
          <a:p>
            <a:pPr algn="ctr">
              <a:defRPr sz="1300" b="1">
                <a:solidFill>
                  <a:srgbClr val="94A3B8"/>
                </a:solidFill>
              </a:defRPr>
            </a:pPr>
            <a:r>
              <a:t>BỘ GIÁO DỤC VÀ ĐÀO TẠO</a:t>
            </a:r>
          </a:p>
          <a:p>
            <a:pPr algn="ctr">
              <a:defRPr sz="1500" b="1">
                <a:solidFill>
                  <a:srgbClr val="FFFFFF"/>
                </a:solidFill>
              </a:defRPr>
            </a:pPr>
            <a:r>
              <a:t>TRƯỜNG ĐẠI HỌC CÔNG NGHỆ KỸ THUẬT TP. HCM</a:t>
            </a:r>
          </a:p>
          <a:p>
            <a:pPr algn="ctr">
              <a:defRPr sz="1300" b="1">
                <a:solidFill>
                  <a:srgbClr val="0284C7"/>
                </a:solidFill>
              </a:defRPr>
            </a:pPr>
            <a:r>
              <a:t>KHOA ĐIỆN – ĐIỆN TỬ</a:t>
            </a:r>
          </a:p>
        </p:txBody>
      </p:sp>
      <p:sp>
        <p:nvSpPr>
          <p:cNvPr id="6" name="TextBox 5"/>
          <p:cNvSpPr txBox="1"/>
          <p:nvPr/>
        </p:nvSpPr>
        <p:spPr>
          <a:xfrm>
            <a:off x="839105" y="1819414"/>
            <a:ext cx="10362895" cy="1415772"/>
          </a:xfrm>
          <a:prstGeom prst="rect">
            <a:avLst/>
          </a:prstGeom>
          <a:noFill/>
        </p:spPr>
        <p:txBody>
          <a:bodyPr wrap="square">
            <a:spAutoFit/>
          </a:bodyPr>
          <a:lstStyle/>
          <a:p>
            <a:pPr algn="ctr">
              <a:defRPr sz="1400" b="1">
                <a:solidFill>
                  <a:srgbClr val="0284C7"/>
                </a:solidFill>
              </a:defRPr>
            </a:pPr>
            <a:r>
              <a:rPr sz="1400"/>
              <a:t>BÁO CÁO ĐỒ ÁN LẬP TRÌNH THIẾT BỊ DI ĐỘNG</a:t>
            </a:r>
          </a:p>
          <a:p>
            <a:pPr algn="ctr">
              <a:defRPr sz="2200" b="1">
                <a:solidFill>
                  <a:srgbClr val="FFFFFF"/>
                </a:solidFill>
              </a:defRPr>
            </a:pPr>
            <a:r>
              <a:rPr sz="2800"/>
              <a:t>HỆ THỐNG GIÁM SÁT MÔI TRƯỜNG NHÀ XƯỞNG </a:t>
            </a:r>
            <a:endParaRPr lang="vi-VN" sz="2800"/>
          </a:p>
          <a:p>
            <a:pPr algn="ctr">
              <a:defRPr sz="2200" b="1">
                <a:solidFill>
                  <a:srgbClr val="FFFFFF"/>
                </a:solidFill>
              </a:defRPr>
            </a:pPr>
            <a:r>
              <a:rPr sz="2800"/>
              <a:t>(FACTORY</a:t>
            </a:r>
            <a:r>
              <a:rPr lang="vi-VN" sz="2800"/>
              <a:t> </a:t>
            </a:r>
            <a:r>
              <a:rPr sz="2800"/>
              <a:t>MONITOR)</a:t>
            </a:r>
          </a:p>
          <a:p>
            <a:pPr algn="ctr">
              <a:defRPr sz="1400" b="1">
                <a:solidFill>
                  <a:srgbClr val="A5B4FC"/>
                </a:solidFill>
              </a:defRPr>
            </a:pPr>
            <a:r>
              <a:rPr sz="1400"/>
              <a:t>BÀI TẬP NÂNG CAO: NHẬN DIỆN HÀNH VI CON NGƯỜI VỚI MOBILEONE-1D TRÊN FPGA</a:t>
            </a:r>
          </a:p>
        </p:txBody>
      </p:sp>
      <p:sp>
        <p:nvSpPr>
          <p:cNvPr id="8" name="TextBox 7"/>
          <p:cNvSpPr txBox="1"/>
          <p:nvPr/>
        </p:nvSpPr>
        <p:spPr>
          <a:xfrm>
            <a:off x="4221480" y="3235186"/>
            <a:ext cx="3749039" cy="605294"/>
          </a:xfrm>
          <a:prstGeom prst="rect">
            <a:avLst/>
          </a:prstGeom>
          <a:noFill/>
        </p:spPr>
        <p:txBody>
          <a:bodyPr wrap="square">
            <a:spAutoFit/>
          </a:bodyPr>
          <a:lstStyle/>
          <a:p>
            <a:pPr algn="ctr">
              <a:spcAft>
                <a:spcPts val="1000"/>
              </a:spcAft>
              <a:defRPr sz="1300" b="1">
                <a:solidFill>
                  <a:srgbClr val="0284C7"/>
                </a:solidFill>
              </a:defRPr>
            </a:pPr>
            <a:r>
              <a:t>GIẢNG VIÊN HƯỚNG DẪN</a:t>
            </a:r>
          </a:p>
          <a:p>
            <a:pPr algn="ctr">
              <a:spcAft>
                <a:spcPts val="600"/>
              </a:spcAft>
              <a:defRPr sz="1200">
                <a:solidFill>
                  <a:srgbClr val="FFFFFF"/>
                </a:solidFill>
              </a:defRPr>
            </a:pPr>
            <a:r>
              <a:t>• GVHD 1: ThS. Huỳnh Hoàng Hà</a:t>
            </a:r>
          </a:p>
        </p:txBody>
      </p:sp>
      <p:sp>
        <p:nvSpPr>
          <p:cNvPr id="9" name="Rounded Rectangle 8"/>
          <p:cNvSpPr/>
          <p:nvPr/>
        </p:nvSpPr>
        <p:spPr>
          <a:xfrm>
            <a:off x="2805066" y="3911096"/>
            <a:ext cx="6430975" cy="1810693"/>
          </a:xfrm>
          <a:prstGeom prst="roundRect">
            <a:avLst/>
          </a:prstGeom>
          <a:solidFill>
            <a:srgbClr val="1E293B"/>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55959" y="4006012"/>
            <a:ext cx="6035040" cy="1446550"/>
          </a:xfrm>
          <a:prstGeom prst="rect">
            <a:avLst/>
          </a:prstGeom>
          <a:noFill/>
        </p:spPr>
        <p:txBody>
          <a:bodyPr wrap="square">
            <a:spAutoFit/>
          </a:bodyPr>
          <a:lstStyle/>
          <a:p>
            <a:pPr algn="ctr">
              <a:spcAft>
                <a:spcPts val="800"/>
              </a:spcAft>
              <a:defRPr sz="1300" b="1">
                <a:solidFill>
                  <a:srgbClr val="0284C7"/>
                </a:solidFill>
              </a:defRPr>
            </a:pPr>
            <a:r>
              <a:t>DANH SÁCH THÀNH VIÊN NHÓM THỰC HIỆN</a:t>
            </a:r>
          </a:p>
          <a:p>
            <a:pPr algn="ctr">
              <a:spcAft>
                <a:spcPts val="400"/>
              </a:spcAft>
              <a:defRPr sz="1100">
                <a:solidFill>
                  <a:srgbClr val="FFFFFF"/>
                </a:solidFill>
              </a:defRPr>
            </a:pPr>
            <a:r>
              <a:t>1. Quách Gia Huy         | MSSV: 23119131  (Phần mềm Mobile &amp; Giao thức)</a:t>
            </a:r>
          </a:p>
          <a:p>
            <a:pPr algn="ctr">
              <a:spcAft>
                <a:spcPts val="400"/>
              </a:spcAft>
              <a:defRPr sz="1100">
                <a:solidFill>
                  <a:srgbClr val="FFFFFF"/>
                </a:solidFill>
              </a:defRPr>
            </a:pPr>
            <a:r>
              <a:t>2. Quách Gia Huy         | MSSV: 23119149  (Backend Firebase &amp; Dữ liệu)</a:t>
            </a:r>
          </a:p>
          <a:p>
            <a:pPr algn="ctr">
              <a:spcAft>
                <a:spcPts val="400"/>
              </a:spcAft>
              <a:defRPr sz="1100">
                <a:solidFill>
                  <a:srgbClr val="FFFFFF"/>
                </a:solidFill>
              </a:defRPr>
            </a:pPr>
            <a:r>
              <a:t>3. Nguyễn Đức Lộc        | </a:t>
            </a:r>
            <a:r>
              <a:rPr lang="vi-VN"/>
              <a:t>MSSV</a:t>
            </a:r>
            <a:r>
              <a:t>: 23119165  (Thuật toán AI &amp; Thiết kế RTL)</a:t>
            </a:r>
          </a:p>
          <a:p>
            <a:pPr algn="ctr">
              <a:spcAft>
                <a:spcPts val="400"/>
              </a:spcAft>
              <a:defRPr sz="1100">
                <a:solidFill>
                  <a:srgbClr val="FFFFFF"/>
                </a:solidFill>
              </a:defRPr>
            </a:pPr>
            <a:r>
              <a:t>4. Phạm Gia Huy          | MSSV: 23119148  (Phần cứng ESP32 &amp; Cảm biến)</a:t>
            </a:r>
          </a:p>
          <a:p>
            <a:pPr algn="ctr">
              <a:spcAft>
                <a:spcPts val="400"/>
              </a:spcAft>
              <a:defRPr sz="1100">
                <a:solidFill>
                  <a:srgbClr val="FFFFFF"/>
                </a:solidFill>
              </a:defRPr>
            </a:pPr>
            <a:r>
              <a:t>5. Nguyễn Nguyên Tính    | MSSV: 23119212  (Tích hợp hệ thống &amp; Kiểm thử)</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01</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TỔNG QUAN ĐỀ TÀI FACTORYMONITOR</a:t>
            </a:r>
          </a:p>
          <a:p>
            <a:pPr>
              <a:defRPr sz="1150">
                <a:solidFill>
                  <a:srgbClr val="94A3B8"/>
                </a:solidFill>
              </a:defRPr>
            </a:pPr>
            <a:r>
              <a:t>Tính cấp thiết, bài toán thực tiễn và mục tiêu phát triển hệ thống</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2 / 16</a:t>
            </a:r>
          </a:p>
        </p:txBody>
      </p:sp>
      <p:sp>
        <p:nvSpPr>
          <p:cNvPr id="7" name="Rounded Rectangle 6"/>
          <p:cNvSpPr/>
          <p:nvPr/>
        </p:nvSpPr>
        <p:spPr>
          <a:xfrm>
            <a:off x="548640" y="1280160"/>
            <a:ext cx="5394960" cy="4023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120640" cy="320040"/>
          </a:xfrm>
          <a:prstGeom prst="rect">
            <a:avLst/>
          </a:prstGeom>
          <a:noFill/>
        </p:spPr>
        <p:txBody>
          <a:bodyPr wrap="none" anchor="ctr">
            <a:spAutoFit/>
          </a:bodyPr>
          <a:lstStyle/>
          <a:p>
            <a:pPr>
              <a:defRPr sz="1250" b="1">
                <a:solidFill>
                  <a:srgbClr val="0F172A"/>
                </a:solidFill>
              </a:defRPr>
            </a:pPr>
            <a:r>
              <a:t>1. BỐI CẢNH &amp; ĐẶT VẤN ĐỀ</a:t>
            </a:r>
          </a:p>
        </p:txBody>
      </p:sp>
      <p:sp>
        <p:nvSpPr>
          <p:cNvPr id="11" name="TextBox 10"/>
          <p:cNvSpPr txBox="1"/>
          <p:nvPr/>
        </p:nvSpPr>
        <p:spPr>
          <a:xfrm>
            <a:off x="731520" y="1737360"/>
            <a:ext cx="5029200" cy="3474720"/>
          </a:xfrm>
          <a:prstGeom prst="rect">
            <a:avLst/>
          </a:prstGeom>
          <a:noFill/>
        </p:spPr>
        <p:txBody>
          <a:bodyPr wrap="square">
            <a:spAutoFit/>
          </a:bodyPr>
          <a:lstStyle/>
          <a:p>
            <a:pPr>
              <a:spcAft>
                <a:spcPts val="800"/>
              </a:spcAft>
              <a:defRPr sz="1100">
                <a:solidFill>
                  <a:srgbClr val="0F172A"/>
                </a:solidFill>
              </a:defRPr>
            </a:pPr>
            <a:r>
              <a:t>Nhu cầu sản xuất hiện đại: Nhiệt độ, độ ẩm và sự rò rỉ khí dễ cháy (LPG, khói) là những yếu tố nguy hiểm hàng đầu gây hư hỏng thiết bị và cháy nổ.</a:t>
            </a:r>
          </a:p>
          <a:p>
            <a:pPr>
              <a:spcAft>
                <a:spcPts val="800"/>
              </a:spcAft>
              <a:defRPr sz="1100">
                <a:solidFill>
                  <a:srgbClr val="0F172A"/>
                </a:solidFill>
              </a:defRPr>
            </a:pPr>
            <a:r>
              <a:t>Hạn chế của mô hình truyền thống: Các nút giám sát phần cứng trước đây chỉ hiển thị cục bộ trên OLED hoặc trạm cố định, người vận hành không thể giám sát từ xa khi di chuyển.</a:t>
            </a:r>
          </a:p>
          <a:p>
            <a:pPr>
              <a:spcAft>
                <a:spcPts val="800"/>
              </a:spcAft>
              <a:defRPr sz="1100">
                <a:solidFill>
                  <a:srgbClr val="0F172A"/>
                </a:solidFill>
              </a:defRPr>
            </a:pPr>
            <a:r>
              <a:t>Thiếu cảnh báo chủ động: Khi có sự cố vượt ngưỡng ngoài giờ làm việc, hệ thống cũ không thể phát cảnh báo trực tiếp đến điện thoại người phụ trách.</a:t>
            </a:r>
          </a:p>
          <a:p>
            <a:pPr>
              <a:spcAft>
                <a:spcPts val="800"/>
              </a:spcAft>
              <a:defRPr sz="1100">
                <a:solidFill>
                  <a:srgbClr val="0F172A"/>
                </a:solidFill>
              </a:defRPr>
            </a:pPr>
            <a:r>
              <a:t>Mục tiêu FactoryMonitor: Chuyển đổi toàn diện hoạt động giám sát, điều khiển và lưu vết môi trường lên ứng dụng di động thông qua Wi-Fi, MQTT và Firebase.</a:t>
            </a:r>
          </a:p>
        </p:txBody>
      </p:sp>
      <p:sp>
        <p:nvSpPr>
          <p:cNvPr id="12" name="Rounded Rectangle 11"/>
          <p:cNvSpPr/>
          <p:nvPr/>
        </p:nvSpPr>
        <p:spPr>
          <a:xfrm>
            <a:off x="6217920" y="1280160"/>
            <a:ext cx="5394960" cy="4023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316736"/>
            <a:ext cx="5120640" cy="320040"/>
          </a:xfrm>
          <a:prstGeom prst="rect">
            <a:avLst/>
          </a:prstGeom>
          <a:noFill/>
        </p:spPr>
        <p:txBody>
          <a:bodyPr wrap="none" anchor="ctr">
            <a:spAutoFit/>
          </a:bodyPr>
          <a:lstStyle/>
          <a:p>
            <a:pPr>
              <a:defRPr sz="1250" b="1">
                <a:solidFill>
                  <a:srgbClr val="0F172A"/>
                </a:solidFill>
              </a:defRPr>
            </a:pPr>
            <a:r>
              <a:t>2. MỤC TIÊU ĐỀ TÀI CỤ THỂ</a:t>
            </a:r>
          </a:p>
        </p:txBody>
      </p:sp>
      <p:sp>
        <p:nvSpPr>
          <p:cNvPr id="16" name="TextBox 15"/>
          <p:cNvSpPr txBox="1"/>
          <p:nvPr/>
        </p:nvSpPr>
        <p:spPr>
          <a:xfrm>
            <a:off x="6400800" y="1737360"/>
            <a:ext cx="5029200" cy="3474720"/>
          </a:xfrm>
          <a:prstGeom prst="rect">
            <a:avLst/>
          </a:prstGeom>
          <a:noFill/>
        </p:spPr>
        <p:txBody>
          <a:bodyPr wrap="square">
            <a:spAutoFit/>
          </a:bodyPr>
          <a:lstStyle/>
          <a:p>
            <a:pPr>
              <a:spcAft>
                <a:spcPts val="700"/>
              </a:spcAft>
              <a:defRPr sz="1100">
                <a:solidFill>
                  <a:srgbClr val="0F172A"/>
                </a:solidFill>
              </a:defRPr>
            </a:pPr>
            <a:r>
              <a:t>Phần cứng nhúng đa điểm: Xây dựng 2 nút cảm biến ESP32 (Node ID riêng biệt) thu thập thông số môi trường và điều khiển relay, còi tại chỗ.</a:t>
            </a:r>
          </a:p>
          <a:p>
            <a:pPr>
              <a:spcAft>
                <a:spcPts val="700"/>
              </a:spcAft>
              <a:defRPr sz="1100">
                <a:solidFill>
                  <a:srgbClr val="0F172A"/>
                </a:solidFill>
              </a:defRPr>
            </a:pPr>
            <a:r>
              <a:t>Giao thức MQTT hai chiều: Thiết lập luồng trao đổi dữ liệu tức thời (&lt; 500ms) để ESP32 gửi dữ liệu và ứng dụng gửi lệnh điều khiển.</a:t>
            </a:r>
          </a:p>
          <a:p>
            <a:pPr>
              <a:spcAft>
                <a:spcPts val="700"/>
              </a:spcAft>
              <a:defRPr sz="1100">
                <a:solidFill>
                  <a:srgbClr val="0F172A"/>
                </a:solidFill>
              </a:defRPr>
            </a:pPr>
            <a:r>
              <a:t>Ứng dụng di động React Native: Phát triển 5 màn hình trực quan: Đăng nhập, Giám sát, Hẹn giờ, Cài đặt ngưỡng, Lịch sử dữ liệu và Ghép thiết bị QR.</a:t>
            </a:r>
          </a:p>
          <a:p>
            <a:pPr>
              <a:spcAft>
                <a:spcPts val="700"/>
              </a:spcAft>
              <a:defRPr sz="1100">
                <a:solidFill>
                  <a:srgbClr val="0F172A"/>
                </a:solidFill>
              </a:defRPr>
            </a:pPr>
            <a:r>
              <a:t>Lưu trữ đám mây Firebase: Xác thực người dùng bằng Firebase Auth, đồng bộ cấu hình và lưu vết lịch sử trên Cloud Firestore (tối ưu chu kỳ 30s).</a:t>
            </a:r>
          </a:p>
          <a:p>
            <a:pPr>
              <a:spcAft>
                <a:spcPts val="700"/>
              </a:spcAft>
              <a:defRPr sz="1100">
                <a:solidFill>
                  <a:srgbClr val="0F172A"/>
                </a:solidFill>
              </a:defRPr>
            </a:pPr>
            <a:r>
              <a:t>An toàn độc lập: Đảm bảo các thuật toán an toàn tại chỗ vẫn hoạt động khi mất kết nối mạng Internet hoặc ứng dụng đóng.</a:t>
            </a:r>
          </a:p>
        </p:txBody>
      </p:sp>
      <p:sp>
        <p:nvSpPr>
          <p:cNvPr id="17" name="Rounded Rectangle 16"/>
          <p:cNvSpPr/>
          <p:nvPr/>
        </p:nvSpPr>
        <p:spPr>
          <a:xfrm>
            <a:off x="548640" y="5486400"/>
            <a:ext cx="2560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5532120"/>
            <a:ext cx="2377440" cy="868680"/>
          </a:xfrm>
          <a:prstGeom prst="rect">
            <a:avLst/>
          </a:prstGeom>
          <a:noFill/>
        </p:spPr>
        <p:txBody>
          <a:bodyPr wrap="square">
            <a:spAutoFit/>
          </a:bodyPr>
          <a:lstStyle/>
          <a:p>
            <a:pPr algn="ctr">
              <a:defRPr sz="1700" b="1">
                <a:solidFill>
                  <a:srgbClr val="0284C7"/>
                </a:solidFill>
              </a:defRPr>
            </a:pPr>
            <a:r>
              <a:t>02 NÚT</a:t>
            </a:r>
          </a:p>
          <a:p>
            <a:pPr algn="ctr">
              <a:defRPr sz="1000">
                <a:solidFill>
                  <a:srgbClr val="475569"/>
                </a:solidFill>
              </a:defRPr>
            </a:pPr>
            <a:r>
              <a:t>Thử nghiệm đa điểm hiện trường</a:t>
            </a:r>
          </a:p>
        </p:txBody>
      </p:sp>
      <p:sp>
        <p:nvSpPr>
          <p:cNvPr id="19" name="Rounded Rectangle 18"/>
          <p:cNvSpPr/>
          <p:nvPr/>
        </p:nvSpPr>
        <p:spPr>
          <a:xfrm>
            <a:off x="3383280" y="5486400"/>
            <a:ext cx="2560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474720" y="5532120"/>
            <a:ext cx="2377440" cy="868680"/>
          </a:xfrm>
          <a:prstGeom prst="rect">
            <a:avLst/>
          </a:prstGeom>
          <a:noFill/>
        </p:spPr>
        <p:txBody>
          <a:bodyPr wrap="square">
            <a:spAutoFit/>
          </a:bodyPr>
          <a:lstStyle/>
          <a:p>
            <a:pPr algn="ctr">
              <a:defRPr sz="1700" b="1">
                <a:solidFill>
                  <a:srgbClr val="10B981"/>
                </a:solidFill>
              </a:defRPr>
            </a:pPr>
            <a:r>
              <a:t>&lt; 500 ms</a:t>
            </a:r>
          </a:p>
          <a:p>
            <a:pPr algn="ctr">
              <a:defRPr sz="1000">
                <a:solidFill>
                  <a:srgbClr val="475569"/>
                </a:solidFill>
              </a:defRPr>
            </a:pPr>
            <a:r>
              <a:t>Độ trễ truyền nhận lệnh MQTT</a:t>
            </a:r>
          </a:p>
        </p:txBody>
      </p:sp>
      <p:sp>
        <p:nvSpPr>
          <p:cNvPr id="21" name="Rounded Rectangle 20"/>
          <p:cNvSpPr/>
          <p:nvPr/>
        </p:nvSpPr>
        <p:spPr>
          <a:xfrm>
            <a:off x="6217920" y="5486400"/>
            <a:ext cx="2560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5532120"/>
            <a:ext cx="2377440" cy="868680"/>
          </a:xfrm>
          <a:prstGeom prst="rect">
            <a:avLst/>
          </a:prstGeom>
          <a:noFill/>
        </p:spPr>
        <p:txBody>
          <a:bodyPr wrap="square">
            <a:spAutoFit/>
          </a:bodyPr>
          <a:lstStyle/>
          <a:p>
            <a:pPr algn="ctr">
              <a:defRPr sz="1700" b="1">
                <a:solidFill>
                  <a:srgbClr val="D97706"/>
                </a:solidFill>
              </a:defRPr>
            </a:pPr>
            <a:r>
              <a:t>30 Giây</a:t>
            </a:r>
          </a:p>
          <a:p>
            <a:pPr algn="ctr">
              <a:defRPr sz="1000">
                <a:solidFill>
                  <a:srgbClr val="475569"/>
                </a:solidFill>
              </a:defRPr>
            </a:pPr>
            <a:r>
              <a:t>Chu kỳ ghi lịch sử Cloud Firestore</a:t>
            </a:r>
          </a:p>
        </p:txBody>
      </p:sp>
      <p:sp>
        <p:nvSpPr>
          <p:cNvPr id="23" name="Rounded Rectangle 22"/>
          <p:cNvSpPr/>
          <p:nvPr/>
        </p:nvSpPr>
        <p:spPr>
          <a:xfrm>
            <a:off x="9052560" y="5486400"/>
            <a:ext cx="2560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0" y="5532120"/>
            <a:ext cx="2377440" cy="868680"/>
          </a:xfrm>
          <a:prstGeom prst="rect">
            <a:avLst/>
          </a:prstGeom>
          <a:noFill/>
        </p:spPr>
        <p:txBody>
          <a:bodyPr wrap="square">
            <a:spAutoFit/>
          </a:bodyPr>
          <a:lstStyle/>
          <a:p>
            <a:pPr algn="ctr">
              <a:defRPr sz="1700" b="1">
                <a:solidFill>
                  <a:srgbClr val="E11D48"/>
                </a:solidFill>
              </a:defRPr>
            </a:pPr>
            <a:r>
              <a:t>100%</a:t>
            </a:r>
          </a:p>
          <a:p>
            <a:pPr algn="ctr">
              <a:defRPr sz="1000">
                <a:solidFill>
                  <a:srgbClr val="475569"/>
                </a:solidFill>
              </a:defRPr>
            </a:pPr>
            <a:r>
              <a:t>Bảo toàn an toàn cục bộ khi mất mạng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02</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KIẾN TRÚC TỔNG THỂ HỆ THỐNG</a:t>
            </a:r>
          </a:p>
          <a:p>
            <a:pPr>
              <a:defRPr sz="1150">
                <a:solidFill>
                  <a:srgbClr val="94A3B8"/>
                </a:solidFill>
              </a:defRPr>
            </a:pPr>
            <a:r>
              <a:t>Mô hình phân tầng chức năng 4 lớp kết nối từ phần cứng đến ứng dụng di động</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3 / 16</a:t>
            </a:r>
          </a:p>
        </p:txBody>
      </p:sp>
      <p:sp>
        <p:nvSpPr>
          <p:cNvPr id="7" name="Rounded Rectangle 6"/>
          <p:cNvSpPr/>
          <p:nvPr/>
        </p:nvSpPr>
        <p:spPr>
          <a:xfrm>
            <a:off x="548640" y="1280160"/>
            <a:ext cx="59436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9436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669280" cy="320040"/>
          </a:xfrm>
          <a:prstGeom prst="rect">
            <a:avLst/>
          </a:prstGeom>
          <a:noFill/>
        </p:spPr>
        <p:txBody>
          <a:bodyPr wrap="none" anchor="ctr">
            <a:spAutoFit/>
          </a:bodyPr>
          <a:lstStyle/>
          <a:p>
            <a:pPr>
              <a:defRPr sz="1250" b="1">
                <a:solidFill>
                  <a:srgbClr val="0F172A"/>
                </a:solidFill>
              </a:defRPr>
            </a:pPr>
            <a:r>
              <a:t>SƠ ĐỒ KIẾN TRÚC HỆ THỐNG (HÌNH 3.1)</a:t>
            </a:r>
          </a:p>
        </p:txBody>
      </p:sp>
      <p:pic>
        <p:nvPicPr>
          <p:cNvPr id="11" name="Picture 10" descr="doc1_image1.png"/>
          <p:cNvPicPr>
            <a:picLocks noChangeAspect="1"/>
          </p:cNvPicPr>
          <p:nvPr/>
        </p:nvPicPr>
        <p:blipFill>
          <a:blip r:embed="rId2"/>
          <a:stretch>
            <a:fillRect/>
          </a:stretch>
        </p:blipFill>
        <p:spPr>
          <a:xfrm>
            <a:off x="731520" y="2278684"/>
            <a:ext cx="5577840" cy="3123590"/>
          </a:xfrm>
          <a:prstGeom prst="rect">
            <a:avLst/>
          </a:prstGeom>
        </p:spPr>
      </p:pic>
      <p:sp>
        <p:nvSpPr>
          <p:cNvPr id="12" name="TextBox 11"/>
          <p:cNvSpPr txBox="1"/>
          <p:nvPr/>
        </p:nvSpPr>
        <p:spPr>
          <a:xfrm>
            <a:off x="731520" y="5916168"/>
            <a:ext cx="5577840" cy="320040"/>
          </a:xfrm>
          <a:prstGeom prst="rect">
            <a:avLst/>
          </a:prstGeom>
          <a:noFill/>
        </p:spPr>
        <p:txBody>
          <a:bodyPr wrap="square" lIns="0" tIns="0" rIns="0" bIns="0">
            <a:spAutoFit/>
          </a:bodyPr>
          <a:lstStyle/>
          <a:p>
            <a:pPr algn="ctr">
              <a:defRPr sz="950" i="1">
                <a:solidFill>
                  <a:srgbClr val="475569"/>
                </a:solidFill>
              </a:defRPr>
            </a:pPr>
            <a:r>
              <a:t>Hình 3.1: Kiến trúc 4 tầng kết nối giữa ESP32, MQTT Broker, App và Firebase</a:t>
            </a:r>
          </a:p>
        </p:txBody>
      </p:sp>
      <p:sp>
        <p:nvSpPr>
          <p:cNvPr id="13" name="Rounded Rectangle 12"/>
          <p:cNvSpPr/>
          <p:nvPr/>
        </p:nvSpPr>
        <p:spPr>
          <a:xfrm>
            <a:off x="6675120" y="1280160"/>
            <a:ext cx="49377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75120" y="1280160"/>
            <a:ext cx="49377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0" y="1316736"/>
            <a:ext cx="4663440" cy="320040"/>
          </a:xfrm>
          <a:prstGeom prst="rect">
            <a:avLst/>
          </a:prstGeom>
          <a:noFill/>
        </p:spPr>
        <p:txBody>
          <a:bodyPr wrap="none" anchor="ctr">
            <a:spAutoFit/>
          </a:bodyPr>
          <a:lstStyle/>
          <a:p>
            <a:pPr>
              <a:defRPr sz="1250" b="1">
                <a:solidFill>
                  <a:srgbClr val="0F172A"/>
                </a:solidFill>
              </a:defRPr>
            </a:pPr>
            <a:r>
              <a:t>VAI TRÒ CỦA 4 LỚP CHỨC NĂNG</a:t>
            </a:r>
          </a:p>
        </p:txBody>
      </p:sp>
      <p:sp>
        <p:nvSpPr>
          <p:cNvPr id="17" name="TextBox 16"/>
          <p:cNvSpPr txBox="1"/>
          <p:nvPr/>
        </p:nvSpPr>
        <p:spPr>
          <a:xfrm>
            <a:off x="6858000" y="1737360"/>
            <a:ext cx="4572000" cy="4663440"/>
          </a:xfrm>
          <a:prstGeom prst="rect">
            <a:avLst/>
          </a:prstGeom>
          <a:noFill/>
        </p:spPr>
        <p:txBody>
          <a:bodyPr wrap="square">
            <a:spAutoFit/>
          </a:bodyPr>
          <a:lstStyle/>
          <a:p>
            <a:pPr>
              <a:spcAft>
                <a:spcPts val="200"/>
              </a:spcAft>
              <a:defRPr sz="1100" b="1">
                <a:solidFill>
                  <a:srgbClr val="0284C7"/>
                </a:solidFill>
              </a:defRPr>
            </a:pPr>
            <a:r>
              <a:t>1. LỚP THIẾT BỊ HIỆN TRƯỜNG (ESP32):</a:t>
            </a:r>
          </a:p>
          <a:p>
            <a:pPr>
              <a:spcAft>
                <a:spcPts val="200"/>
              </a:spcAft>
              <a:defRPr sz="1000">
                <a:solidFill>
                  <a:srgbClr val="0F172A"/>
                </a:solidFill>
              </a:defRPr>
            </a:pPr>
            <a:r>
              <a:t>• Thu thập nhiệt độ, độ ẩm từ DHT và mức khí gas từ MQ-2.</a:t>
            </a:r>
          </a:p>
          <a:p>
            <a:pPr>
              <a:spcAft>
                <a:spcPts val="200"/>
              </a:spcAft>
              <a:defRPr sz="1000">
                <a:solidFill>
                  <a:srgbClr val="0F172A"/>
                </a:solidFill>
              </a:defRPr>
            </a:pPr>
            <a:r>
              <a:t>• Hiển thị trực tiếp tại chỗ qua OLED 0.96 inch và lưu mốc thời gian RTC DS3231.</a:t>
            </a:r>
          </a:p>
          <a:p>
            <a:pPr>
              <a:spcAft>
                <a:spcPts val="200"/>
              </a:spcAft>
              <a:defRPr sz="1000">
                <a:solidFill>
                  <a:srgbClr val="0F172A"/>
                </a:solidFill>
              </a:defRPr>
            </a:pPr>
            <a:r>
              <a:t>• Chấp hành đóng/ngắt relay và phát còi buzzer cảnh báo khẩn cấp.</a:t>
            </a:r>
          </a:p>
          <a:p>
            <a:pPr>
              <a:spcAft>
                <a:spcPts val="400"/>
              </a:spcAft>
            </a:pPr>
            <a:endParaRPr/>
          </a:p>
          <a:p>
            <a:pPr>
              <a:spcAft>
                <a:spcPts val="200"/>
              </a:spcAft>
              <a:defRPr sz="1100" b="1">
                <a:solidFill>
                  <a:srgbClr val="0284C7"/>
                </a:solidFill>
              </a:defRPr>
            </a:pPr>
            <a:r>
              <a:t>2. LỚP TRUYỀN THÔNG (WI-FI &amp; MQTT BROKER):</a:t>
            </a:r>
          </a:p>
          <a:p>
            <a:pPr>
              <a:spcAft>
                <a:spcPts val="200"/>
              </a:spcAft>
              <a:defRPr sz="1000">
                <a:solidFill>
                  <a:srgbClr val="0F172A"/>
                </a:solidFill>
              </a:defRPr>
            </a:pPr>
            <a:r>
              <a:t>• Wi-Fi kết nối Internet; MQTT Broker phân phối bản tin theo topic.</a:t>
            </a:r>
          </a:p>
          <a:p>
            <a:pPr>
              <a:spcAft>
                <a:spcPts val="200"/>
              </a:spcAft>
              <a:defRPr sz="1000">
                <a:solidFill>
                  <a:srgbClr val="0F172A"/>
                </a:solidFill>
              </a:defRPr>
            </a:pPr>
            <a:r>
              <a:t>• Phân chia rõ ràng: Topic dữ liệu đo, Topic đồng bộ giờ và Topic lệnh điều khiển.</a:t>
            </a:r>
          </a:p>
          <a:p>
            <a:pPr>
              <a:spcAft>
                <a:spcPts val="400"/>
              </a:spcAft>
            </a:pPr>
            <a:endParaRPr/>
          </a:p>
          <a:p>
            <a:pPr>
              <a:spcAft>
                <a:spcPts val="200"/>
              </a:spcAft>
              <a:defRPr sz="1100" b="1">
                <a:solidFill>
                  <a:srgbClr val="0284C7"/>
                </a:solidFill>
              </a:defRPr>
            </a:pPr>
            <a:r>
              <a:t>3. LỚP DỊCH VỤ ĐÁM MÂY (FIREBASE):</a:t>
            </a:r>
          </a:p>
          <a:p>
            <a:pPr>
              <a:spcAft>
                <a:spcPts val="200"/>
              </a:spcAft>
              <a:defRPr sz="1000">
                <a:solidFill>
                  <a:srgbClr val="0F172A"/>
                </a:solidFill>
              </a:defRPr>
            </a:pPr>
            <a:r>
              <a:t>• Firebase Authentication: Xác thực và quản lý tài khoản người vận hành.</a:t>
            </a:r>
          </a:p>
          <a:p>
            <a:pPr>
              <a:spcAft>
                <a:spcPts val="200"/>
              </a:spcAft>
              <a:defRPr sz="1000">
                <a:solidFill>
                  <a:srgbClr val="0F172A"/>
                </a:solidFill>
              </a:defRPr>
            </a:pPr>
            <a:r>
              <a:t>• Cloud Firestore: Lưu danh sách node theo user, cấu hình ngưỡng và lịch sử đo 30s.</a:t>
            </a:r>
          </a:p>
          <a:p>
            <a:pPr>
              <a:spcAft>
                <a:spcPts val="400"/>
              </a:spcAft>
            </a:pPr>
            <a:endParaRPr/>
          </a:p>
          <a:p>
            <a:pPr>
              <a:spcAft>
                <a:spcPts val="200"/>
              </a:spcAft>
              <a:defRPr sz="1100" b="1">
                <a:solidFill>
                  <a:srgbClr val="0284C7"/>
                </a:solidFill>
              </a:defRPr>
            </a:pPr>
            <a:r>
              <a:t>4. LỚP ỨNG DỤNG DI ĐỘNG (REACT NATIVE):</a:t>
            </a:r>
          </a:p>
          <a:p>
            <a:pPr>
              <a:spcAft>
                <a:spcPts val="200"/>
              </a:spcAft>
              <a:defRPr sz="1000">
                <a:solidFill>
                  <a:srgbClr val="0F172A"/>
                </a:solidFill>
              </a:defRPr>
            </a:pPr>
            <a:r>
              <a:t>• Nhận dữ liệu thời gian thực qua WebSocket MQTT, quản lý trạng thái bằng Zustand.</a:t>
            </a:r>
          </a:p>
          <a:p>
            <a:pPr>
              <a:spcAft>
                <a:spcPts val="200"/>
              </a:spcAft>
              <a:defRPr sz="1000">
                <a:solidFill>
                  <a:srgbClr val="0F172A"/>
                </a:solidFill>
              </a:defRPr>
            </a:pPr>
            <a:r>
              <a:t>• Cho phép điều khiển relay, hẹn giờ, quét QR ghép node và thông báo vượt ngưỡng.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03</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THIẾT KẾ PHẦN CỨNG NÚT GIÁM SÁT ESP32</a:t>
            </a:r>
          </a:p>
          <a:p>
            <a:pPr>
              <a:defRPr sz="1150">
                <a:solidFill>
                  <a:srgbClr val="94A3B8"/>
                </a:solidFill>
              </a:defRPr>
            </a:pPr>
            <a:r>
              <a:t>Sơ đồ khối chức năng vi điều khiển và mô hình phần cứng thực nghiệm</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4 / 16</a:t>
            </a:r>
          </a:p>
        </p:txBody>
      </p:sp>
      <p:sp>
        <p:nvSpPr>
          <p:cNvPr id="7" name="Rounded Rectangle 6"/>
          <p:cNvSpPr/>
          <p:nvPr/>
        </p:nvSpPr>
        <p:spPr>
          <a:xfrm>
            <a:off x="548640" y="1280160"/>
            <a:ext cx="393192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393192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3657600" cy="320040"/>
          </a:xfrm>
          <a:prstGeom prst="rect">
            <a:avLst/>
          </a:prstGeom>
          <a:noFill/>
        </p:spPr>
        <p:txBody>
          <a:bodyPr wrap="none" anchor="ctr">
            <a:spAutoFit/>
          </a:bodyPr>
          <a:lstStyle/>
          <a:p>
            <a:pPr>
              <a:defRPr sz="1250" b="1">
                <a:solidFill>
                  <a:srgbClr val="0F172A"/>
                </a:solidFill>
              </a:defRPr>
            </a:pPr>
            <a:r>
              <a:t>SƠ ĐỒ KHỐI CHỨC NĂNG (HÌNH 3.2)</a:t>
            </a:r>
          </a:p>
        </p:txBody>
      </p:sp>
      <p:pic>
        <p:nvPicPr>
          <p:cNvPr id="11" name="Picture 10" descr="doc1_image2.png"/>
          <p:cNvPicPr>
            <a:picLocks noChangeAspect="1"/>
          </p:cNvPicPr>
          <p:nvPr/>
        </p:nvPicPr>
        <p:blipFill>
          <a:blip r:embed="rId2"/>
          <a:stretch>
            <a:fillRect/>
          </a:stretch>
        </p:blipFill>
        <p:spPr>
          <a:xfrm>
            <a:off x="731520" y="2860929"/>
            <a:ext cx="3566160" cy="2050542"/>
          </a:xfrm>
          <a:prstGeom prst="rect">
            <a:avLst/>
          </a:prstGeom>
        </p:spPr>
      </p:pic>
      <p:sp>
        <p:nvSpPr>
          <p:cNvPr id="12" name="TextBox 11"/>
          <p:cNvSpPr txBox="1"/>
          <p:nvPr/>
        </p:nvSpPr>
        <p:spPr>
          <a:xfrm>
            <a:off x="731520" y="6007608"/>
            <a:ext cx="3566160" cy="320040"/>
          </a:xfrm>
          <a:prstGeom prst="rect">
            <a:avLst/>
          </a:prstGeom>
          <a:noFill/>
        </p:spPr>
        <p:txBody>
          <a:bodyPr wrap="square" lIns="0" tIns="0" rIns="0" bIns="0">
            <a:spAutoFit/>
          </a:bodyPr>
          <a:lstStyle/>
          <a:p>
            <a:pPr algn="ctr">
              <a:defRPr sz="950" i="1">
                <a:solidFill>
                  <a:srgbClr val="475569"/>
                </a:solidFill>
              </a:defRPr>
            </a:pPr>
            <a:r>
              <a:t>Hình 3.2: Sơ đồ khối các thành phần nút ESP32</a:t>
            </a:r>
          </a:p>
        </p:txBody>
      </p:sp>
      <p:sp>
        <p:nvSpPr>
          <p:cNvPr id="13" name="Rounded Rectangle 12"/>
          <p:cNvSpPr/>
          <p:nvPr/>
        </p:nvSpPr>
        <p:spPr>
          <a:xfrm>
            <a:off x="4663440" y="1280160"/>
            <a:ext cx="32004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663440" y="1280160"/>
            <a:ext cx="32004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66344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46320" y="1316736"/>
            <a:ext cx="2926080" cy="320040"/>
          </a:xfrm>
          <a:prstGeom prst="rect">
            <a:avLst/>
          </a:prstGeom>
          <a:noFill/>
        </p:spPr>
        <p:txBody>
          <a:bodyPr wrap="none" anchor="ctr">
            <a:spAutoFit/>
          </a:bodyPr>
          <a:lstStyle/>
          <a:p>
            <a:pPr>
              <a:defRPr sz="1250" b="1">
                <a:solidFill>
                  <a:srgbClr val="0F172A"/>
                </a:solidFill>
              </a:defRPr>
            </a:pPr>
            <a:r>
              <a:t>BOARD THỬ NGHIỆM (HÌNH 3.4)</a:t>
            </a:r>
          </a:p>
        </p:txBody>
      </p:sp>
      <p:pic>
        <p:nvPicPr>
          <p:cNvPr id="17" name="Picture 16" descr="doc1_image4.png"/>
          <p:cNvPicPr>
            <a:picLocks noChangeAspect="1"/>
          </p:cNvPicPr>
          <p:nvPr/>
        </p:nvPicPr>
        <p:blipFill>
          <a:blip r:embed="rId3"/>
          <a:stretch>
            <a:fillRect/>
          </a:stretch>
        </p:blipFill>
        <p:spPr>
          <a:xfrm>
            <a:off x="5033829" y="1783080"/>
            <a:ext cx="2459621" cy="4206240"/>
          </a:xfrm>
          <a:prstGeom prst="rect">
            <a:avLst/>
          </a:prstGeom>
        </p:spPr>
      </p:pic>
      <p:sp>
        <p:nvSpPr>
          <p:cNvPr id="18" name="TextBox 17"/>
          <p:cNvSpPr txBox="1"/>
          <p:nvPr/>
        </p:nvSpPr>
        <p:spPr>
          <a:xfrm>
            <a:off x="4846320" y="6007608"/>
            <a:ext cx="2834640" cy="320040"/>
          </a:xfrm>
          <a:prstGeom prst="rect">
            <a:avLst/>
          </a:prstGeom>
          <a:noFill/>
        </p:spPr>
        <p:txBody>
          <a:bodyPr wrap="square" lIns="0" tIns="0" rIns="0" bIns="0">
            <a:spAutoFit/>
          </a:bodyPr>
          <a:lstStyle/>
          <a:p>
            <a:pPr algn="ctr">
              <a:defRPr sz="950" i="1">
                <a:solidFill>
                  <a:srgbClr val="475569"/>
                </a:solidFill>
              </a:defRPr>
            </a:pPr>
            <a:r>
              <a:t>Hình 3.4: Mô hình nút phần cứng tích hợp ngoại vi</a:t>
            </a:r>
          </a:p>
        </p:txBody>
      </p:sp>
      <p:sp>
        <p:nvSpPr>
          <p:cNvPr id="19" name="Rounded Rectangle 18"/>
          <p:cNvSpPr/>
          <p:nvPr/>
        </p:nvSpPr>
        <p:spPr>
          <a:xfrm>
            <a:off x="8046720" y="1280160"/>
            <a:ext cx="35661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046720" y="1280160"/>
            <a:ext cx="35661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20" y="1280160"/>
            <a:ext cx="91440" cy="38404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29600" y="1316736"/>
            <a:ext cx="3291840" cy="320040"/>
          </a:xfrm>
          <a:prstGeom prst="rect">
            <a:avLst/>
          </a:prstGeom>
          <a:noFill/>
        </p:spPr>
        <p:txBody>
          <a:bodyPr wrap="none" anchor="ctr">
            <a:spAutoFit/>
          </a:bodyPr>
          <a:lstStyle/>
          <a:p>
            <a:pPr>
              <a:defRPr sz="1250" b="1">
                <a:solidFill>
                  <a:srgbClr val="0F172A"/>
                </a:solidFill>
              </a:defRPr>
            </a:pPr>
            <a:r>
              <a:t>CHI TIẾT LINH KIỆN NGOẠI VI</a:t>
            </a:r>
          </a:p>
        </p:txBody>
      </p:sp>
      <p:sp>
        <p:nvSpPr>
          <p:cNvPr id="23" name="TextBox 22"/>
          <p:cNvSpPr txBox="1"/>
          <p:nvPr/>
        </p:nvSpPr>
        <p:spPr>
          <a:xfrm>
            <a:off x="8229600" y="1737360"/>
            <a:ext cx="3200400" cy="4663440"/>
          </a:xfrm>
          <a:prstGeom prst="rect">
            <a:avLst/>
          </a:prstGeom>
          <a:noFill/>
        </p:spPr>
        <p:txBody>
          <a:bodyPr wrap="square">
            <a:spAutoFit/>
          </a:bodyPr>
          <a:lstStyle/>
          <a:p>
            <a:pPr>
              <a:spcAft>
                <a:spcPts val="200"/>
              </a:spcAft>
              <a:defRPr sz="1100" b="1">
                <a:solidFill>
                  <a:srgbClr val="0284C7"/>
                </a:solidFill>
              </a:defRPr>
            </a:pPr>
            <a:r>
              <a:t>1. Vi điều khiển ESP32:</a:t>
            </a:r>
          </a:p>
          <a:p>
            <a:pPr>
              <a:spcAft>
                <a:spcPts val="200"/>
              </a:spcAft>
              <a:defRPr sz="950">
                <a:solidFill>
                  <a:srgbClr val="0F172A"/>
                </a:solidFill>
              </a:defRPr>
            </a:pPr>
            <a:r>
              <a:t>• Dual-core 240MHz, 520KB SRAM.</a:t>
            </a:r>
          </a:p>
          <a:p>
            <a:pPr>
              <a:spcAft>
                <a:spcPts val="200"/>
              </a:spcAft>
              <a:defRPr sz="950">
                <a:solidFill>
                  <a:srgbClr val="0F172A"/>
                </a:solidFill>
              </a:defRPr>
            </a:pPr>
            <a:r>
              <a:t>• Wi-Fi 802.11 b/g/n &amp; Bluetooth BLE.</a:t>
            </a:r>
          </a:p>
          <a:p>
            <a:pPr>
              <a:spcAft>
                <a:spcPts val="200"/>
              </a:spcAft>
              <a:defRPr sz="950">
                <a:solidFill>
                  <a:srgbClr val="0F172A"/>
                </a:solidFill>
              </a:defRPr>
            </a:pPr>
            <a:r>
              <a:t>• Xử lý đa luồng FreeRTOS độc lập.</a:t>
            </a:r>
          </a:p>
          <a:p>
            <a:pPr>
              <a:spcAft>
                <a:spcPts val="300"/>
              </a:spcAft>
            </a:pPr>
            <a:endParaRPr/>
          </a:p>
          <a:p>
            <a:pPr>
              <a:spcAft>
                <a:spcPts val="200"/>
              </a:spcAft>
              <a:defRPr sz="1100" b="1">
                <a:solidFill>
                  <a:srgbClr val="0284C7"/>
                </a:solidFill>
              </a:defRPr>
            </a:pPr>
            <a:r>
              <a:t>2. Cảm biến môi trường:</a:t>
            </a:r>
          </a:p>
          <a:p>
            <a:pPr>
              <a:spcAft>
                <a:spcPts val="200"/>
              </a:spcAft>
              <a:defRPr sz="950">
                <a:solidFill>
                  <a:srgbClr val="0F172A"/>
                </a:solidFill>
              </a:defRPr>
            </a:pPr>
            <a:r>
              <a:t>• DHT11 / DHT22: Đo nhiệt độ (0-50°C) và độ ẩm (20-90% RH).</a:t>
            </a:r>
          </a:p>
          <a:p>
            <a:pPr>
              <a:spcAft>
                <a:spcPts val="200"/>
              </a:spcAft>
              <a:defRPr sz="950">
                <a:solidFill>
                  <a:srgbClr val="0F172A"/>
                </a:solidFill>
              </a:defRPr>
            </a:pPr>
            <a:r>
              <a:t>• MQ-2: Cảm biến khí dễ cháy (LPG, Propane, khói) xuất điện áp Analog ADC.</a:t>
            </a:r>
          </a:p>
          <a:p>
            <a:pPr>
              <a:spcAft>
                <a:spcPts val="200"/>
              </a:spcAft>
              <a:defRPr sz="950">
                <a:solidFill>
                  <a:srgbClr val="0F172A"/>
                </a:solidFill>
              </a:defRPr>
            </a:pPr>
            <a:r>
              <a:t>• RTC DS3231: Thời gian thực I2C có pin backup duy trì độ chính xác cao.</a:t>
            </a:r>
          </a:p>
          <a:p>
            <a:pPr>
              <a:spcAft>
                <a:spcPts val="300"/>
              </a:spcAft>
            </a:pPr>
            <a:endParaRPr/>
          </a:p>
          <a:p>
            <a:pPr>
              <a:spcAft>
                <a:spcPts val="200"/>
              </a:spcAft>
              <a:defRPr sz="1100" b="1">
                <a:solidFill>
                  <a:srgbClr val="0284C7"/>
                </a:solidFill>
              </a:defRPr>
            </a:pPr>
            <a:r>
              <a:t>3. Hiển thị &amp; Chấp hành an toàn:</a:t>
            </a:r>
          </a:p>
          <a:p>
            <a:pPr>
              <a:spcAft>
                <a:spcPts val="200"/>
              </a:spcAft>
              <a:defRPr sz="950">
                <a:solidFill>
                  <a:srgbClr val="0F172A"/>
                </a:solidFill>
              </a:defRPr>
            </a:pPr>
            <a:r>
              <a:t>• OLED 0.96 inch (SSD1306): Hiển thị chỉ số tại chỗ không cần điện thoại.</a:t>
            </a:r>
          </a:p>
          <a:p>
            <a:pPr>
              <a:spcAft>
                <a:spcPts val="200"/>
              </a:spcAft>
              <a:defRPr sz="950">
                <a:solidFill>
                  <a:srgbClr val="0F172A"/>
                </a:solidFill>
              </a:defRPr>
            </a:pPr>
            <a:r>
              <a:t>• Module Relay 5V (Active Low): Kích hoạt tải quạt thông gió công nghiệp.</a:t>
            </a:r>
          </a:p>
          <a:p>
            <a:pPr>
              <a:spcAft>
                <a:spcPts val="200"/>
              </a:spcAft>
              <a:defRPr sz="950">
                <a:solidFill>
                  <a:srgbClr val="0F172A"/>
                </a:solidFill>
              </a:defRPr>
            </a:pPr>
            <a:r>
              <a:t>• Còi buzzer &amp; LED đôi: Báo động tức thì khi phát hiện vượt ngưỡng nguy hiểm.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04</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SƠ ĐỒ KẾT NỐI &amp; PHÂN BỔ CHÂN GPIO</a:t>
            </a:r>
          </a:p>
          <a:p>
            <a:pPr>
              <a:defRPr sz="1150">
                <a:solidFill>
                  <a:srgbClr val="94A3B8"/>
                </a:solidFill>
              </a:defRPr>
            </a:pPr>
            <a:r>
              <a:t>Chi tiết mạch nguyên lý phần cứng, giao tiếp ngoại vi và bảo vệ cách ly</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5 / 16</a:t>
            </a:r>
          </a:p>
        </p:txBody>
      </p:sp>
      <p:sp>
        <p:nvSpPr>
          <p:cNvPr id="7" name="Rounded Rectangle 6"/>
          <p:cNvSpPr/>
          <p:nvPr/>
        </p:nvSpPr>
        <p:spPr>
          <a:xfrm>
            <a:off x="548640" y="1280160"/>
            <a:ext cx="475488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475488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4480560" cy="320040"/>
          </a:xfrm>
          <a:prstGeom prst="rect">
            <a:avLst/>
          </a:prstGeom>
          <a:noFill/>
        </p:spPr>
        <p:txBody>
          <a:bodyPr wrap="none" anchor="ctr">
            <a:spAutoFit/>
          </a:bodyPr>
          <a:lstStyle/>
          <a:p>
            <a:pPr>
              <a:defRPr sz="1250" b="1">
                <a:solidFill>
                  <a:srgbClr val="0F172A"/>
                </a:solidFill>
              </a:defRPr>
            </a:pPr>
            <a:r>
              <a:t>SƠ ĐỒ NỐI DÂY CHI TIẾT (HÌNH 3.3)</a:t>
            </a:r>
          </a:p>
        </p:txBody>
      </p:sp>
      <p:pic>
        <p:nvPicPr>
          <p:cNvPr id="11" name="Picture 10" descr="doc1_image3.png"/>
          <p:cNvPicPr>
            <a:picLocks noChangeAspect="1"/>
          </p:cNvPicPr>
          <p:nvPr/>
        </p:nvPicPr>
        <p:blipFill>
          <a:blip r:embed="rId2"/>
          <a:stretch>
            <a:fillRect/>
          </a:stretch>
        </p:blipFill>
        <p:spPr>
          <a:xfrm>
            <a:off x="1112434" y="1783080"/>
            <a:ext cx="3627291" cy="4206240"/>
          </a:xfrm>
          <a:prstGeom prst="rect">
            <a:avLst/>
          </a:prstGeom>
        </p:spPr>
      </p:pic>
      <p:sp>
        <p:nvSpPr>
          <p:cNvPr id="12" name="TextBox 11"/>
          <p:cNvSpPr txBox="1"/>
          <p:nvPr/>
        </p:nvSpPr>
        <p:spPr>
          <a:xfrm>
            <a:off x="731520" y="6007608"/>
            <a:ext cx="4389120" cy="320040"/>
          </a:xfrm>
          <a:prstGeom prst="rect">
            <a:avLst/>
          </a:prstGeom>
          <a:noFill/>
        </p:spPr>
        <p:txBody>
          <a:bodyPr wrap="square" lIns="0" tIns="0" rIns="0" bIns="0">
            <a:spAutoFit/>
          </a:bodyPr>
          <a:lstStyle/>
          <a:p>
            <a:pPr algn="ctr">
              <a:defRPr sz="950" i="1">
                <a:solidFill>
                  <a:srgbClr val="475569"/>
                </a:solidFill>
              </a:defRPr>
            </a:pPr>
            <a:r>
              <a:t>Hình 3.3: Sơ đồ chân kết nối ESP32 với OLED, RTC, DHT, MQ-2, Relay và Còi</a:t>
            </a:r>
          </a:p>
        </p:txBody>
      </p:sp>
      <p:sp>
        <p:nvSpPr>
          <p:cNvPr id="13" name="Rounded Rectangle 12"/>
          <p:cNvSpPr/>
          <p:nvPr/>
        </p:nvSpPr>
        <p:spPr>
          <a:xfrm>
            <a:off x="5486400" y="1280160"/>
            <a:ext cx="612648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0" y="1280160"/>
            <a:ext cx="612648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69280" y="1316736"/>
            <a:ext cx="5852160" cy="320040"/>
          </a:xfrm>
          <a:prstGeom prst="rect">
            <a:avLst/>
          </a:prstGeom>
          <a:noFill/>
        </p:spPr>
        <p:txBody>
          <a:bodyPr wrap="none" anchor="ctr">
            <a:spAutoFit/>
          </a:bodyPr>
          <a:lstStyle/>
          <a:p>
            <a:pPr>
              <a:defRPr sz="1250" b="1">
                <a:solidFill>
                  <a:srgbClr val="0F172A"/>
                </a:solidFill>
              </a:defRPr>
            </a:pPr>
            <a:r>
              <a:t>BẢNG PHÂN BỔ CHÂN GPIO ESP32 (BẢNG 3.3)</a:t>
            </a:r>
          </a:p>
        </p:txBody>
      </p:sp>
      <p:graphicFrame>
        <p:nvGraphicFramePr>
          <p:cNvPr id="17" name="Table 16"/>
          <p:cNvGraphicFramePr>
            <a:graphicFrameLocks noGrp="1"/>
          </p:cNvGraphicFramePr>
          <p:nvPr/>
        </p:nvGraphicFramePr>
        <p:xfrm>
          <a:off x="5669280" y="1783080"/>
          <a:ext cx="5760720" cy="310896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88620">
                <a:tc>
                  <a:txBody>
                    <a:bodyPr/>
                    <a:lstStyle/>
                    <a:p>
                      <a:pPr>
                        <a:defRPr sz="1000" b="1">
                          <a:solidFill>
                            <a:srgbClr val="0369A1"/>
                          </a:solidFill>
                        </a:defRPr>
                      </a:pPr>
                      <a:r>
                        <a:t>Khối ngoại vi</a:t>
                      </a:r>
                    </a:p>
                  </a:txBody>
                  <a:tcPr>
                    <a:solidFill>
                      <a:srgbClr val="E0F2FE"/>
                    </a:solidFill>
                  </a:tcPr>
                </a:tc>
                <a:tc>
                  <a:txBody>
                    <a:bodyPr/>
                    <a:lstStyle/>
                    <a:p>
                      <a:pPr>
                        <a:defRPr sz="1000" b="1">
                          <a:solidFill>
                            <a:srgbClr val="0369A1"/>
                          </a:solidFill>
                        </a:defRPr>
                      </a:pPr>
                      <a:r>
                        <a:t>Tín hiệu</a:t>
                      </a:r>
                    </a:p>
                  </a:txBody>
                  <a:tcPr>
                    <a:solidFill>
                      <a:srgbClr val="E0F2FE"/>
                    </a:solidFill>
                  </a:tcPr>
                </a:tc>
                <a:tc>
                  <a:txBody>
                    <a:bodyPr/>
                    <a:lstStyle/>
                    <a:p>
                      <a:pPr>
                        <a:defRPr sz="1000" b="1">
                          <a:solidFill>
                            <a:srgbClr val="0369A1"/>
                          </a:solidFill>
                        </a:defRPr>
                      </a:pPr>
                      <a:r>
                        <a:t>Chân ESP32</a:t>
                      </a:r>
                    </a:p>
                  </a:txBody>
                  <a:tcPr>
                    <a:solidFill>
                      <a:srgbClr val="E0F2FE"/>
                    </a:solidFill>
                  </a:tcPr>
                </a:tc>
                <a:tc>
                  <a:txBody>
                    <a:bodyPr/>
                    <a:lstStyle/>
                    <a:p>
                      <a:pPr>
                        <a:defRPr sz="1000" b="1">
                          <a:solidFill>
                            <a:srgbClr val="0369A1"/>
                          </a:solidFill>
                        </a:defRPr>
                      </a:pPr>
                      <a:r>
                        <a:t>Ghi chú kỹ thuật</a:t>
                      </a:r>
                    </a:p>
                  </a:txBody>
                  <a:tcPr>
                    <a:solidFill>
                      <a:srgbClr val="E0F2FE"/>
                    </a:solidFill>
                  </a:tcPr>
                </a:tc>
                <a:extLst>
                  <a:ext uri="{0D108BD9-81ED-4DB2-BD59-A6C34878D82A}">
                    <a16:rowId xmlns:a16="http://schemas.microsoft.com/office/drawing/2014/main" val="10000"/>
                  </a:ext>
                </a:extLst>
              </a:tr>
              <a:tr h="388620">
                <a:tc>
                  <a:txBody>
                    <a:bodyPr/>
                    <a:lstStyle/>
                    <a:p>
                      <a:pPr>
                        <a:defRPr sz="950">
                          <a:solidFill>
                            <a:srgbClr val="0F172A"/>
                          </a:solidFill>
                        </a:defRPr>
                      </a:pPr>
                      <a:r>
                        <a:t>OLED 0.96 &amp; RTC</a:t>
                      </a:r>
                    </a:p>
                  </a:txBody>
                  <a:tcPr/>
                </a:tc>
                <a:tc>
                  <a:txBody>
                    <a:bodyPr/>
                    <a:lstStyle/>
                    <a:p>
                      <a:pPr>
                        <a:defRPr sz="950">
                          <a:solidFill>
                            <a:srgbClr val="0F172A"/>
                          </a:solidFill>
                        </a:defRPr>
                      </a:pPr>
                      <a:r>
                        <a:t>SDA / SCL</a:t>
                      </a:r>
                    </a:p>
                  </a:txBody>
                  <a:tcPr/>
                </a:tc>
                <a:tc>
                  <a:txBody>
                    <a:bodyPr/>
                    <a:lstStyle/>
                    <a:p>
                      <a:pPr>
                        <a:defRPr sz="950">
                          <a:solidFill>
                            <a:srgbClr val="0F172A"/>
                          </a:solidFill>
                        </a:defRPr>
                      </a:pPr>
                      <a:r>
                        <a:t>GPIO 21 / 22</a:t>
                      </a:r>
                    </a:p>
                  </a:txBody>
                  <a:tcPr/>
                </a:tc>
                <a:tc>
                  <a:txBody>
                    <a:bodyPr/>
                    <a:lstStyle/>
                    <a:p>
                      <a:pPr>
                        <a:defRPr sz="950">
                          <a:solidFill>
                            <a:srgbClr val="0F172A"/>
                          </a:solidFill>
                        </a:defRPr>
                      </a:pPr>
                      <a:r>
                        <a:t>Bus I2C chung, trở kéo 4.7kΩ</a:t>
                      </a:r>
                    </a:p>
                  </a:txBody>
                  <a:tcPr/>
                </a:tc>
                <a:extLst>
                  <a:ext uri="{0D108BD9-81ED-4DB2-BD59-A6C34878D82A}">
                    <a16:rowId xmlns:a16="http://schemas.microsoft.com/office/drawing/2014/main" val="10001"/>
                  </a:ext>
                </a:extLst>
              </a:tr>
              <a:tr h="388620">
                <a:tc>
                  <a:txBody>
                    <a:bodyPr/>
                    <a:lstStyle/>
                    <a:p>
                      <a:pPr>
                        <a:defRPr sz="950">
                          <a:solidFill>
                            <a:srgbClr val="0F172A"/>
                          </a:solidFill>
                        </a:defRPr>
                      </a:pPr>
                      <a:r>
                        <a:t>Cảm biến DHT</a:t>
                      </a:r>
                    </a:p>
                  </a:txBody>
                  <a:tcPr/>
                </a:tc>
                <a:tc>
                  <a:txBody>
                    <a:bodyPr/>
                    <a:lstStyle/>
                    <a:p>
                      <a:pPr>
                        <a:defRPr sz="950">
                          <a:solidFill>
                            <a:srgbClr val="0F172A"/>
                          </a:solidFill>
                        </a:defRPr>
                      </a:pPr>
                      <a:r>
                        <a:t>DATA</a:t>
                      </a:r>
                    </a:p>
                  </a:txBody>
                  <a:tcPr/>
                </a:tc>
                <a:tc>
                  <a:txBody>
                    <a:bodyPr/>
                    <a:lstStyle/>
                    <a:p>
                      <a:pPr>
                        <a:defRPr sz="950">
                          <a:solidFill>
                            <a:srgbClr val="0F172A"/>
                          </a:solidFill>
                        </a:defRPr>
                      </a:pPr>
                      <a:r>
                        <a:t>GPIO 4</a:t>
                      </a:r>
                    </a:p>
                  </a:txBody>
                  <a:tcPr/>
                </a:tc>
                <a:tc>
                  <a:txBody>
                    <a:bodyPr/>
                    <a:lstStyle/>
                    <a:p>
                      <a:pPr>
                        <a:defRPr sz="950">
                          <a:solidFill>
                            <a:srgbClr val="0F172A"/>
                          </a:solidFill>
                        </a:defRPr>
                      </a:pPr>
                      <a:r>
                        <a:t>Giao thức 1-Wire, trở kéo 10kΩ</a:t>
                      </a:r>
                    </a:p>
                  </a:txBody>
                  <a:tcPr/>
                </a:tc>
                <a:extLst>
                  <a:ext uri="{0D108BD9-81ED-4DB2-BD59-A6C34878D82A}">
                    <a16:rowId xmlns:a16="http://schemas.microsoft.com/office/drawing/2014/main" val="10002"/>
                  </a:ext>
                </a:extLst>
              </a:tr>
              <a:tr h="388620">
                <a:tc>
                  <a:txBody>
                    <a:bodyPr/>
                    <a:lstStyle/>
                    <a:p>
                      <a:pPr>
                        <a:defRPr sz="950">
                          <a:solidFill>
                            <a:srgbClr val="0F172A"/>
                          </a:solidFill>
                        </a:defRPr>
                      </a:pPr>
                      <a:r>
                        <a:t>Cảm biến MQ-2</a:t>
                      </a:r>
                    </a:p>
                  </a:txBody>
                  <a:tcPr/>
                </a:tc>
                <a:tc>
                  <a:txBody>
                    <a:bodyPr/>
                    <a:lstStyle/>
                    <a:p>
                      <a:pPr>
                        <a:defRPr sz="950">
                          <a:solidFill>
                            <a:srgbClr val="0F172A"/>
                          </a:solidFill>
                        </a:defRPr>
                      </a:pPr>
                      <a:r>
                        <a:t>ANALOG (A0)</a:t>
                      </a:r>
                    </a:p>
                  </a:txBody>
                  <a:tcPr/>
                </a:tc>
                <a:tc>
                  <a:txBody>
                    <a:bodyPr/>
                    <a:lstStyle/>
                    <a:p>
                      <a:pPr>
                        <a:defRPr sz="950">
                          <a:solidFill>
                            <a:srgbClr val="0F172A"/>
                          </a:solidFill>
                        </a:defRPr>
                      </a:pPr>
                      <a:r>
                        <a:t>GPIO 34</a:t>
                      </a:r>
                    </a:p>
                  </a:txBody>
                  <a:tcPr/>
                </a:tc>
                <a:tc>
                  <a:txBody>
                    <a:bodyPr/>
                    <a:lstStyle/>
                    <a:p>
                      <a:pPr>
                        <a:defRPr sz="950">
                          <a:solidFill>
                            <a:srgbClr val="0F172A"/>
                          </a:solidFill>
                        </a:defRPr>
                      </a:pPr>
                      <a:r>
                        <a:t>Kênh ADC1_CH6 (tránh xung đột Wi-Fi)</a:t>
                      </a:r>
                    </a:p>
                  </a:txBody>
                  <a:tcPr/>
                </a:tc>
                <a:extLst>
                  <a:ext uri="{0D108BD9-81ED-4DB2-BD59-A6C34878D82A}">
                    <a16:rowId xmlns:a16="http://schemas.microsoft.com/office/drawing/2014/main" val="10003"/>
                  </a:ext>
                </a:extLst>
              </a:tr>
              <a:tr h="388620">
                <a:tc>
                  <a:txBody>
                    <a:bodyPr/>
                    <a:lstStyle/>
                    <a:p>
                      <a:pPr>
                        <a:defRPr sz="950">
                          <a:solidFill>
                            <a:srgbClr val="0F172A"/>
                          </a:solidFill>
                        </a:defRPr>
                      </a:pPr>
                      <a:r>
                        <a:t>Module Relay 5V</a:t>
                      </a:r>
                    </a:p>
                  </a:txBody>
                  <a:tcPr/>
                </a:tc>
                <a:tc>
                  <a:txBody>
                    <a:bodyPr/>
                    <a:lstStyle/>
                    <a:p>
                      <a:pPr>
                        <a:defRPr sz="950">
                          <a:solidFill>
                            <a:srgbClr val="0F172A"/>
                          </a:solidFill>
                        </a:defRPr>
                      </a:pPr>
                      <a:r>
                        <a:t>IN (Kích)</a:t>
                      </a:r>
                    </a:p>
                  </a:txBody>
                  <a:tcPr/>
                </a:tc>
                <a:tc>
                  <a:txBody>
                    <a:bodyPr/>
                    <a:lstStyle/>
                    <a:p>
                      <a:pPr>
                        <a:defRPr sz="950">
                          <a:solidFill>
                            <a:srgbClr val="0F172A"/>
                          </a:solidFill>
                        </a:defRPr>
                      </a:pPr>
                      <a:r>
                        <a:t>GPIO 26</a:t>
                      </a:r>
                    </a:p>
                  </a:txBody>
                  <a:tcPr/>
                </a:tc>
                <a:tc>
                  <a:txBody>
                    <a:bodyPr/>
                    <a:lstStyle/>
                    <a:p>
                      <a:pPr>
                        <a:defRPr sz="950">
                          <a:solidFill>
                            <a:srgbClr val="0F172A"/>
                          </a:solidFill>
                        </a:defRPr>
                      </a:pPr>
                      <a:r>
                        <a:t>Active Low, có cách ly quang Opto</a:t>
                      </a:r>
                    </a:p>
                  </a:txBody>
                  <a:tcPr/>
                </a:tc>
                <a:extLst>
                  <a:ext uri="{0D108BD9-81ED-4DB2-BD59-A6C34878D82A}">
                    <a16:rowId xmlns:a16="http://schemas.microsoft.com/office/drawing/2014/main" val="10004"/>
                  </a:ext>
                </a:extLst>
              </a:tr>
              <a:tr h="388620">
                <a:tc>
                  <a:txBody>
                    <a:bodyPr/>
                    <a:lstStyle/>
                    <a:p>
                      <a:pPr>
                        <a:defRPr sz="950">
                          <a:solidFill>
                            <a:srgbClr val="0F172A"/>
                          </a:solidFill>
                        </a:defRPr>
                      </a:pPr>
                      <a:r>
                        <a:t>Còi báo động</a:t>
                      </a:r>
                    </a:p>
                  </a:txBody>
                  <a:tcPr/>
                </a:tc>
                <a:tc>
                  <a:txBody>
                    <a:bodyPr/>
                    <a:lstStyle/>
                    <a:p>
                      <a:pPr>
                        <a:defRPr sz="950">
                          <a:solidFill>
                            <a:srgbClr val="0F172A"/>
                          </a:solidFill>
                        </a:defRPr>
                      </a:pPr>
                      <a:r>
                        <a:t>BUZZER</a:t>
                      </a:r>
                    </a:p>
                  </a:txBody>
                  <a:tcPr/>
                </a:tc>
                <a:tc>
                  <a:txBody>
                    <a:bodyPr/>
                    <a:lstStyle/>
                    <a:p>
                      <a:pPr>
                        <a:defRPr sz="950">
                          <a:solidFill>
                            <a:srgbClr val="0F172A"/>
                          </a:solidFill>
                        </a:defRPr>
                      </a:pPr>
                      <a:r>
                        <a:t>GPIO 27</a:t>
                      </a:r>
                    </a:p>
                  </a:txBody>
                  <a:tcPr/>
                </a:tc>
                <a:tc>
                  <a:txBody>
                    <a:bodyPr/>
                    <a:lstStyle/>
                    <a:p>
                      <a:pPr>
                        <a:defRPr sz="950">
                          <a:solidFill>
                            <a:srgbClr val="0F172A"/>
                          </a:solidFill>
                        </a:defRPr>
                      </a:pPr>
                      <a:r>
                        <a:t>Tín hiệu số điều khiển transistor</a:t>
                      </a:r>
                    </a:p>
                  </a:txBody>
                  <a:tcPr/>
                </a:tc>
                <a:extLst>
                  <a:ext uri="{0D108BD9-81ED-4DB2-BD59-A6C34878D82A}">
                    <a16:rowId xmlns:a16="http://schemas.microsoft.com/office/drawing/2014/main" val="10005"/>
                  </a:ext>
                </a:extLst>
              </a:tr>
              <a:tr h="388620">
                <a:tc>
                  <a:txBody>
                    <a:bodyPr/>
                    <a:lstStyle/>
                    <a:p>
                      <a:pPr>
                        <a:defRPr sz="950">
                          <a:solidFill>
                            <a:srgbClr val="0F172A"/>
                          </a:solidFill>
                        </a:defRPr>
                      </a:pPr>
                      <a:r>
                        <a:t>LED Xanh / Đỏ</a:t>
                      </a:r>
                    </a:p>
                  </a:txBody>
                  <a:tcPr/>
                </a:tc>
                <a:tc>
                  <a:txBody>
                    <a:bodyPr/>
                    <a:lstStyle/>
                    <a:p>
                      <a:pPr>
                        <a:defRPr sz="950">
                          <a:solidFill>
                            <a:srgbClr val="0F172A"/>
                          </a:solidFill>
                        </a:defRPr>
                      </a:pPr>
                      <a:r>
                        <a:t>LED_OK / ALARM</a:t>
                      </a:r>
                    </a:p>
                  </a:txBody>
                  <a:tcPr/>
                </a:tc>
                <a:tc>
                  <a:txBody>
                    <a:bodyPr/>
                    <a:lstStyle/>
                    <a:p>
                      <a:pPr>
                        <a:defRPr sz="950">
                          <a:solidFill>
                            <a:srgbClr val="0F172A"/>
                          </a:solidFill>
                        </a:defRPr>
                      </a:pPr>
                      <a:r>
                        <a:t>GPIO 2 / 15</a:t>
                      </a:r>
                    </a:p>
                  </a:txBody>
                  <a:tcPr/>
                </a:tc>
                <a:tc>
                  <a:txBody>
                    <a:bodyPr/>
                    <a:lstStyle/>
                    <a:p>
                      <a:pPr>
                        <a:defRPr sz="950">
                          <a:solidFill>
                            <a:srgbClr val="0F172A"/>
                          </a:solidFill>
                        </a:defRPr>
                      </a:pPr>
                      <a:r>
                        <a:t>Chỉ thị kết nối mạng &amp; cảnh báo</a:t>
                      </a:r>
                    </a:p>
                  </a:txBody>
                  <a:tcPr/>
                </a:tc>
                <a:extLst>
                  <a:ext uri="{0D108BD9-81ED-4DB2-BD59-A6C34878D82A}">
                    <a16:rowId xmlns:a16="http://schemas.microsoft.com/office/drawing/2014/main" val="10006"/>
                  </a:ext>
                </a:extLst>
              </a:tr>
              <a:tr h="388620">
                <a:tc>
                  <a:txBody>
                    <a:bodyPr/>
                    <a:lstStyle/>
                    <a:p>
                      <a:pPr>
                        <a:defRPr sz="950">
                          <a:solidFill>
                            <a:srgbClr val="0F172A"/>
                          </a:solidFill>
                        </a:defRPr>
                      </a:pPr>
                      <a:r>
                        <a:t>Nguồn cấp</a:t>
                      </a:r>
                    </a:p>
                  </a:txBody>
                  <a:tcPr/>
                </a:tc>
                <a:tc>
                  <a:txBody>
                    <a:bodyPr/>
                    <a:lstStyle/>
                    <a:p>
                      <a:pPr>
                        <a:defRPr sz="950">
                          <a:solidFill>
                            <a:srgbClr val="0F172A"/>
                          </a:solidFill>
                        </a:defRPr>
                      </a:pPr>
                      <a:r>
                        <a:t>VCC / GND</a:t>
                      </a:r>
                    </a:p>
                  </a:txBody>
                  <a:tcPr/>
                </a:tc>
                <a:tc>
                  <a:txBody>
                    <a:bodyPr/>
                    <a:lstStyle/>
                    <a:p>
                      <a:pPr>
                        <a:defRPr sz="950">
                          <a:solidFill>
                            <a:srgbClr val="0F172A"/>
                          </a:solidFill>
                        </a:defRPr>
                      </a:pPr>
                      <a:r>
                        <a:t>VIN (5V) &amp; 3.3V</a:t>
                      </a:r>
                    </a:p>
                  </a:txBody>
                  <a:tcPr/>
                </a:tc>
                <a:tc>
                  <a:txBody>
                    <a:bodyPr/>
                    <a:lstStyle/>
                    <a:p>
                      <a:pPr>
                        <a:defRPr sz="950">
                          <a:solidFill>
                            <a:srgbClr val="0F172A"/>
                          </a:solidFill>
                        </a:defRPr>
                      </a:pPr>
                      <a:r>
                        <a:t>5V cho Relay/MQ2; 3.3V cho ESP/DHT</a:t>
                      </a:r>
                    </a:p>
                  </a:txBody>
                  <a:tcPr/>
                </a:tc>
                <a:extLst>
                  <a:ext uri="{0D108BD9-81ED-4DB2-BD59-A6C34878D82A}">
                    <a16:rowId xmlns:a16="http://schemas.microsoft.com/office/drawing/2014/main" val="10007"/>
                  </a:ext>
                </a:extLst>
              </a:tr>
            </a:tbl>
          </a:graphicData>
        </a:graphic>
      </p:graphicFrame>
      <p:sp>
        <p:nvSpPr>
          <p:cNvPr id="18" name="TextBox 17"/>
          <p:cNvSpPr txBox="1"/>
          <p:nvPr/>
        </p:nvSpPr>
        <p:spPr>
          <a:xfrm>
            <a:off x="5669280" y="4983480"/>
            <a:ext cx="5760720" cy="1371600"/>
          </a:xfrm>
          <a:prstGeom prst="rect">
            <a:avLst/>
          </a:prstGeom>
          <a:noFill/>
        </p:spPr>
        <p:txBody>
          <a:bodyPr wrap="square">
            <a:spAutoFit/>
          </a:bodyPr>
          <a:lstStyle/>
          <a:p>
            <a:pPr>
              <a:defRPr sz="1100" b="1">
                <a:solidFill>
                  <a:srgbClr val="E11D48"/>
                </a:solidFill>
              </a:defRPr>
            </a:pPr>
            <a:r>
              <a:t>LƯU Ý THIẾT KẾ PHẦN CỨNG QUAN TRỌNG:</a:t>
            </a:r>
          </a:p>
          <a:p>
            <a:pPr>
              <a:spcAft>
                <a:spcPts val="300"/>
              </a:spcAft>
              <a:defRPr sz="950">
                <a:solidFill>
                  <a:srgbClr val="0F172A"/>
                </a:solidFill>
              </a:defRPr>
            </a:pPr>
            <a:r>
              <a:t>• Ưu tiên ADC1 (GPIO 34): Không dùng chân thuộc ADC2 vì sẽ bị khóa khi bật Wi-Fi.</a:t>
            </a:r>
          </a:p>
          <a:p>
            <a:pPr>
              <a:spcAft>
                <a:spcPts val="300"/>
              </a:spcAft>
              <a:defRPr sz="950">
                <a:solidFill>
                  <a:srgbClr val="0F172A"/>
                </a:solidFill>
              </a:defRPr>
            </a:pPr>
            <a:r>
              <a:t>• Cách ly quang bảo vệ: Tín hiệu kích Relay qua Optocoupler ngăn dòng cảm ứng phá hủy MCU.</a:t>
            </a:r>
          </a:p>
          <a:p>
            <a:pPr>
              <a:spcAft>
                <a:spcPts val="300"/>
              </a:spcAft>
              <a:defRPr sz="950">
                <a:solidFill>
                  <a:srgbClr val="0F172A"/>
                </a:solidFill>
              </a:defRPr>
            </a:pPr>
            <a:r>
              <a:t>• Khởi tạo an toàn (Fail-safe): Chân Relay được cấu hình OUTPUT mức HIGH ngay khi boot để tránh tự kích quạt ngoài ý muốn.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05</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GIAO THỨC TRUYỀN THÔNG WI-FI &amp; MQTT</a:t>
            </a:r>
          </a:p>
          <a:p>
            <a:pPr>
              <a:defRPr sz="1150">
                <a:solidFill>
                  <a:srgbClr val="94A3B8"/>
                </a:solidFill>
              </a:defRPr>
            </a:pPr>
            <a:r>
              <a:t>Cấu trúc Topic phân cấp, định dạng JSON tối ưu và luồng điều khiển 2 chiều</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6 / 16</a:t>
            </a:r>
          </a:p>
        </p:txBody>
      </p:sp>
      <p:sp>
        <p:nvSpPr>
          <p:cNvPr id="7" name="Rounded Rectangle 6"/>
          <p:cNvSpPr/>
          <p:nvPr/>
        </p:nvSpPr>
        <p:spPr>
          <a:xfrm>
            <a:off x="548640" y="1280160"/>
            <a:ext cx="59436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9436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669280" cy="320040"/>
          </a:xfrm>
          <a:prstGeom prst="rect">
            <a:avLst/>
          </a:prstGeom>
          <a:noFill/>
        </p:spPr>
        <p:txBody>
          <a:bodyPr wrap="none" anchor="ctr">
            <a:spAutoFit/>
          </a:bodyPr>
          <a:lstStyle/>
          <a:p>
            <a:pPr>
              <a:defRPr sz="1250" b="1">
                <a:solidFill>
                  <a:srgbClr val="0F172A"/>
                </a:solidFill>
              </a:defRPr>
            </a:pPr>
            <a:r>
              <a:t>LUỒNG TRAO ĐỔI DỮ LIỆU (HÌNH 3.5)</a:t>
            </a:r>
          </a:p>
        </p:txBody>
      </p:sp>
      <p:pic>
        <p:nvPicPr>
          <p:cNvPr id="11" name="Picture 10" descr="doc1_image5.png"/>
          <p:cNvPicPr>
            <a:picLocks noChangeAspect="1"/>
          </p:cNvPicPr>
          <p:nvPr/>
        </p:nvPicPr>
        <p:blipFill>
          <a:blip r:embed="rId2"/>
          <a:stretch>
            <a:fillRect/>
          </a:stretch>
        </p:blipFill>
        <p:spPr>
          <a:xfrm>
            <a:off x="731520" y="2273372"/>
            <a:ext cx="5577840" cy="3134214"/>
          </a:xfrm>
          <a:prstGeom prst="rect">
            <a:avLst/>
          </a:prstGeom>
        </p:spPr>
      </p:pic>
      <p:sp>
        <p:nvSpPr>
          <p:cNvPr id="12" name="TextBox 11"/>
          <p:cNvSpPr txBox="1"/>
          <p:nvPr/>
        </p:nvSpPr>
        <p:spPr>
          <a:xfrm>
            <a:off x="731520" y="5916168"/>
            <a:ext cx="5577840" cy="320040"/>
          </a:xfrm>
          <a:prstGeom prst="rect">
            <a:avLst/>
          </a:prstGeom>
          <a:noFill/>
        </p:spPr>
        <p:txBody>
          <a:bodyPr wrap="square" lIns="0" tIns="0" rIns="0" bIns="0">
            <a:spAutoFit/>
          </a:bodyPr>
          <a:lstStyle/>
          <a:p>
            <a:pPr algn="ctr">
              <a:defRPr sz="950" i="1">
                <a:solidFill>
                  <a:srgbClr val="475569"/>
                </a:solidFill>
              </a:defRPr>
            </a:pPr>
            <a:r>
              <a:t>Hình 3.5: Luồng dữ liệu giữa ESP32, MQTT Broker, App và Cloud Firestore</a:t>
            </a:r>
          </a:p>
        </p:txBody>
      </p:sp>
      <p:sp>
        <p:nvSpPr>
          <p:cNvPr id="13" name="Rounded Rectangle 12"/>
          <p:cNvSpPr/>
          <p:nvPr/>
        </p:nvSpPr>
        <p:spPr>
          <a:xfrm>
            <a:off x="6675120" y="1280160"/>
            <a:ext cx="49377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75120" y="1280160"/>
            <a:ext cx="49377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0" y="1316736"/>
            <a:ext cx="4663440" cy="320040"/>
          </a:xfrm>
          <a:prstGeom prst="rect">
            <a:avLst/>
          </a:prstGeom>
          <a:noFill/>
        </p:spPr>
        <p:txBody>
          <a:bodyPr wrap="none" anchor="ctr">
            <a:spAutoFit/>
          </a:bodyPr>
          <a:lstStyle/>
          <a:p>
            <a:pPr>
              <a:defRPr sz="1250" b="1">
                <a:solidFill>
                  <a:srgbClr val="0F172A"/>
                </a:solidFill>
              </a:defRPr>
            </a:pPr>
            <a:r>
              <a:t>QUY ƯỚC TOPIC &amp; PAYLOAD JSON</a:t>
            </a:r>
          </a:p>
        </p:txBody>
      </p:sp>
      <p:sp>
        <p:nvSpPr>
          <p:cNvPr id="17" name="TextBox 16"/>
          <p:cNvSpPr txBox="1"/>
          <p:nvPr/>
        </p:nvSpPr>
        <p:spPr>
          <a:xfrm>
            <a:off x="6858000" y="1737360"/>
            <a:ext cx="4572000" cy="4663440"/>
          </a:xfrm>
          <a:prstGeom prst="rect">
            <a:avLst/>
          </a:prstGeom>
          <a:noFill/>
        </p:spPr>
        <p:txBody>
          <a:bodyPr wrap="square">
            <a:spAutoFit/>
          </a:bodyPr>
          <a:lstStyle/>
          <a:p>
            <a:pPr>
              <a:spcAft>
                <a:spcPts val="200"/>
              </a:spcAft>
              <a:defRPr sz="1100" b="1">
                <a:solidFill>
                  <a:srgbClr val="0284C7"/>
                </a:solidFill>
              </a:defRPr>
            </a:pPr>
            <a:r>
              <a:t>1. CẤU TRÚC TOPIC PHÂN CẤP THEO NODE ID:</a:t>
            </a:r>
          </a:p>
          <a:p>
            <a:pPr>
              <a:spcAft>
                <a:spcPts val="200"/>
              </a:spcAft>
              <a:defRPr sz="1000">
                <a:solidFill>
                  <a:srgbClr val="0F172A"/>
                </a:solidFill>
              </a:defRPr>
            </a:pPr>
            <a:r>
              <a:t>• Dữ liệu đo: huyfactory2112/node{id}/data (ESP32 -&gt; App, 2s/lần)</a:t>
            </a:r>
          </a:p>
          <a:p>
            <a:pPr>
              <a:spcAft>
                <a:spcPts val="200"/>
              </a:spcAft>
              <a:defRPr sz="1000">
                <a:solidFill>
                  <a:srgbClr val="0F172A"/>
                </a:solidFill>
              </a:defRPr>
            </a:pPr>
            <a:r>
              <a:t>• Đồng bộ giờ: huyfactory2112/node{id}/time (ESP32 -&gt; App)</a:t>
            </a:r>
          </a:p>
          <a:p>
            <a:pPr>
              <a:spcAft>
                <a:spcPts val="200"/>
              </a:spcAft>
              <a:defRPr sz="1000">
                <a:solidFill>
                  <a:srgbClr val="0F172A"/>
                </a:solidFill>
              </a:defRPr>
            </a:pPr>
            <a:r>
              <a:t>• Lệnh điều khiển: huyfactory2112/node{id}/control (App -&gt; ESP32, QoS 1)</a:t>
            </a:r>
          </a:p>
          <a:p>
            <a:pPr>
              <a:spcAft>
                <a:spcPts val="400"/>
              </a:spcAft>
            </a:pPr>
            <a:endParaRPr/>
          </a:p>
          <a:p>
            <a:pPr>
              <a:spcAft>
                <a:spcPts val="200"/>
              </a:spcAft>
              <a:defRPr sz="1100" b="1">
                <a:solidFill>
                  <a:srgbClr val="0284C7"/>
                </a:solidFill>
              </a:defRPr>
            </a:pPr>
            <a:r>
              <a:t>2. ĐỊNH DẠNG JSON TỐI ƯU KÍCH THƯỚC (SHORT FIELDS):</a:t>
            </a:r>
          </a:p>
          <a:p>
            <a:pPr>
              <a:spcAft>
                <a:spcPts val="200"/>
              </a:spcAft>
              <a:defRPr sz="1000">
                <a:solidFill>
                  <a:srgbClr val="0F172A"/>
                </a:solidFill>
              </a:defRPr>
            </a:pPr>
            <a:r>
              <a:t>ESP32 gửi gói tin rút gọn để giảm tải băng thông:</a:t>
            </a:r>
          </a:p>
          <a:p>
            <a:pPr>
              <a:spcAft>
                <a:spcPts val="200"/>
              </a:spcAft>
              <a:defRPr sz="950" b="1">
                <a:solidFill>
                  <a:srgbClr val="D97706"/>
                </a:solidFill>
              </a:defRPr>
            </a:pPr>
            <a:r>
              <a:t>  {"id": 2, "t": 28.5, "h": 65.2, "g": 420, "r": 0, "alarm": false}</a:t>
            </a:r>
          </a:p>
          <a:p>
            <a:pPr>
              <a:spcAft>
                <a:spcPts val="200"/>
              </a:spcAft>
              <a:defRPr sz="1000">
                <a:solidFill>
                  <a:srgbClr val="0F172A"/>
                </a:solidFill>
              </a:defRPr>
            </a:pPr>
            <a:r>
              <a:t>• id: Node ID | t: Nhiệt độ | h: Độ ẩm | g: Gas ADC | r: Relay | alarm: Báo động</a:t>
            </a:r>
          </a:p>
          <a:p>
            <a:pPr>
              <a:spcAft>
                <a:spcPts val="400"/>
              </a:spcAft>
            </a:pPr>
            <a:endParaRPr/>
          </a:p>
          <a:p>
            <a:pPr>
              <a:spcAft>
                <a:spcPts val="200"/>
              </a:spcAft>
              <a:defRPr sz="1100" b="1">
                <a:solidFill>
                  <a:srgbClr val="0284C7"/>
                </a:solidFill>
              </a:defRPr>
            </a:pPr>
            <a:r>
              <a:t>3. TẬP LỆNH ĐIỀU KHIỂN TỨC THỜI TỪ APP (QoS 1):</a:t>
            </a:r>
          </a:p>
          <a:p>
            <a:pPr>
              <a:spcAft>
                <a:spcPts val="200"/>
              </a:spcAft>
              <a:defRPr sz="950" b="1">
                <a:solidFill>
                  <a:srgbClr val="D97706"/>
                </a:solidFill>
              </a:defRPr>
            </a:pPr>
            <a:r>
              <a:t>• Bật/Tắt Relay: {"cmd": "set_relay", "state": true, "reqId": "1001"}</a:t>
            </a:r>
          </a:p>
          <a:p>
            <a:pPr>
              <a:spcAft>
                <a:spcPts val="200"/>
              </a:spcAft>
              <a:defRPr sz="950" b="1">
                <a:solidFill>
                  <a:srgbClr val="D97706"/>
                </a:solidFill>
              </a:defRPr>
            </a:pPr>
            <a:r>
              <a:t>• Đặt ngưỡng cảnh báo: {"cmd": "set_thresholds", "tempMax": 35, "humMax": 80, "gasMax": 600}</a:t>
            </a:r>
          </a:p>
          <a:p>
            <a:pPr>
              <a:spcAft>
                <a:spcPts val="200"/>
              </a:spcAft>
              <a:defRPr sz="950" b="1">
                <a:solidFill>
                  <a:srgbClr val="D97706"/>
                </a:solidFill>
              </a:defRPr>
            </a:pPr>
            <a:r>
              <a:t>• Đồng bộ mốc giờ: {"cmd": "sync_time", "epoch": 1729837200}</a:t>
            </a:r>
          </a:p>
          <a:p>
            <a:pPr>
              <a:spcAft>
                <a:spcPts val="200"/>
              </a:spcAft>
              <a:defRPr sz="950" b="1">
                <a:solidFill>
                  <a:srgbClr val="D97706"/>
                </a:solidFill>
              </a:defRPr>
            </a:pPr>
            <a:r>
              <a:t>• Tắt chuông báo: {"cmd": "mute_buzzer", "duration": 300}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06</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TÍCH HỢP DỊCH VỤ ĐÁM MÂY FIREBASE</a:t>
            </a:r>
          </a:p>
          <a:p>
            <a:pPr>
              <a:defRPr sz="1150">
                <a:solidFill>
                  <a:srgbClr val="94A3B8"/>
                </a:solidFill>
              </a:defRPr>
            </a:pPr>
            <a:r>
              <a:t>Xác thực người dùng với Firebase Auth và lưu trữ NoSQL trên Cloud Firestore</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7 / 16</a:t>
            </a:r>
          </a:p>
        </p:txBody>
      </p:sp>
      <p:sp>
        <p:nvSpPr>
          <p:cNvPr id="7" name="Rounded Rectangle 6"/>
          <p:cNvSpPr/>
          <p:nvPr/>
        </p:nvSpPr>
        <p:spPr>
          <a:xfrm>
            <a:off x="548640" y="1280160"/>
            <a:ext cx="338328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338328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3108960" cy="320040"/>
          </a:xfrm>
          <a:prstGeom prst="rect">
            <a:avLst/>
          </a:prstGeom>
          <a:noFill/>
        </p:spPr>
        <p:txBody>
          <a:bodyPr wrap="none" anchor="ctr">
            <a:spAutoFit/>
          </a:bodyPr>
          <a:lstStyle/>
          <a:p>
            <a:pPr>
              <a:defRPr sz="1250" b="1">
                <a:solidFill>
                  <a:srgbClr val="0F172A"/>
                </a:solidFill>
              </a:defRPr>
            </a:pPr>
            <a:r>
              <a:t>1. XÁC THỰC BẢO MẬT (AUTH)</a:t>
            </a:r>
          </a:p>
        </p:txBody>
      </p:sp>
      <p:sp>
        <p:nvSpPr>
          <p:cNvPr id="11" name="TextBox 10"/>
          <p:cNvSpPr txBox="1"/>
          <p:nvPr/>
        </p:nvSpPr>
        <p:spPr>
          <a:xfrm>
            <a:off x="685800" y="1783080"/>
            <a:ext cx="3108960" cy="4572000"/>
          </a:xfrm>
          <a:prstGeom prst="rect">
            <a:avLst/>
          </a:prstGeom>
          <a:noFill/>
        </p:spPr>
        <p:txBody>
          <a:bodyPr wrap="square">
            <a:spAutoFit/>
          </a:bodyPr>
          <a:lstStyle/>
          <a:p>
            <a:pPr>
              <a:spcAft>
                <a:spcPts val="800"/>
              </a:spcAft>
              <a:defRPr sz="1050">
                <a:solidFill>
                  <a:srgbClr val="0F172A"/>
                </a:solidFill>
              </a:defRPr>
            </a:pPr>
            <a:r>
              <a:t>Quản lý phiên đăng nhập: Xác thực an toàn bằng Email &amp; Mật khẩu.</a:t>
            </a:r>
          </a:p>
          <a:p>
            <a:pPr>
              <a:spcAft>
                <a:spcPts val="800"/>
              </a:spcAft>
              <a:defRPr sz="1050">
                <a:solidFill>
                  <a:srgbClr val="0F172A"/>
                </a:solidFill>
              </a:defRPr>
            </a:pPr>
            <a:r>
              <a:t>Bảo vệ tài nguyên: Ngăn chặn truy cập trái phép từ bên ngoài vào cơ sở dữ liệu.</a:t>
            </a:r>
          </a:p>
          <a:p>
            <a:pPr>
              <a:spcAft>
                <a:spcPts val="800"/>
              </a:spcAft>
              <a:defRPr sz="1050">
                <a:solidFill>
                  <a:srgbClr val="0F172A"/>
                </a:solidFill>
              </a:defRPr>
            </a:pPr>
            <a:r>
              <a:t>Liên kết dữ liệu: Mỗi tài khoản người dùng (`uid`) được phân quyền quản lý danh sách các node riêng biệt.</a:t>
            </a:r>
          </a:p>
          <a:p>
            <a:pPr>
              <a:spcAft>
                <a:spcPts val="800"/>
              </a:spcAft>
              <a:defRPr sz="1050">
                <a:solidFill>
                  <a:srgbClr val="0F172A"/>
                </a:solidFill>
              </a:defRPr>
            </a:pPr>
            <a:r>
              <a:t>Tự động duy trì phiên: Lưu trữ an toàn token đăng nhập trên điện thoại, tự động đăng nhập khi mở app.</a:t>
            </a:r>
          </a:p>
        </p:txBody>
      </p:sp>
      <p:sp>
        <p:nvSpPr>
          <p:cNvPr id="12" name="Rounded Rectangle 11"/>
          <p:cNvSpPr/>
          <p:nvPr/>
        </p:nvSpPr>
        <p:spPr>
          <a:xfrm>
            <a:off x="4389120" y="1280160"/>
            <a:ext cx="338328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280160"/>
            <a:ext cx="338328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891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316736"/>
            <a:ext cx="3108960" cy="320040"/>
          </a:xfrm>
          <a:prstGeom prst="rect">
            <a:avLst/>
          </a:prstGeom>
          <a:noFill/>
        </p:spPr>
        <p:txBody>
          <a:bodyPr wrap="none" anchor="ctr">
            <a:spAutoFit/>
          </a:bodyPr>
          <a:lstStyle/>
          <a:p>
            <a:pPr>
              <a:defRPr sz="1250" b="1">
                <a:solidFill>
                  <a:srgbClr val="0F172A"/>
                </a:solidFill>
              </a:defRPr>
            </a:pPr>
            <a:r>
              <a:t>2. CẤU TRÚC CLOUD FIRESTORE</a:t>
            </a:r>
          </a:p>
        </p:txBody>
      </p:sp>
      <p:sp>
        <p:nvSpPr>
          <p:cNvPr id="16" name="TextBox 15"/>
          <p:cNvSpPr txBox="1"/>
          <p:nvPr/>
        </p:nvSpPr>
        <p:spPr>
          <a:xfrm>
            <a:off x="4526280" y="1783080"/>
            <a:ext cx="3108960" cy="4572000"/>
          </a:xfrm>
          <a:prstGeom prst="rect">
            <a:avLst/>
          </a:prstGeom>
          <a:noFill/>
        </p:spPr>
        <p:txBody>
          <a:bodyPr wrap="square">
            <a:spAutoFit/>
          </a:bodyPr>
          <a:lstStyle/>
          <a:p>
            <a:pPr>
              <a:spcAft>
                <a:spcPts val="800"/>
              </a:spcAft>
              <a:defRPr sz="1050">
                <a:solidFill>
                  <a:srgbClr val="0F172A"/>
                </a:solidFill>
              </a:defRPr>
            </a:pPr>
            <a:r>
              <a:t>Mô hình NoSQL phân cấp:</a:t>
            </a:r>
          </a:p>
          <a:p>
            <a:pPr>
              <a:spcAft>
                <a:spcPts val="800"/>
              </a:spcAft>
              <a:defRPr sz="1050">
                <a:solidFill>
                  <a:srgbClr val="0F172A"/>
                </a:solidFill>
              </a:defRPr>
            </a:pPr>
            <a:r>
              <a:t>• users/{uid}/nodes/{nodeId}: Danh sách thiết bị và tên khu vực nhà xưởng.</a:t>
            </a:r>
          </a:p>
          <a:p>
            <a:pPr>
              <a:spcAft>
                <a:spcPts val="800"/>
              </a:spcAft>
              <a:defRPr sz="1050">
                <a:solidFill>
                  <a:srgbClr val="0F172A"/>
                </a:solidFill>
              </a:defRPr>
            </a:pPr>
            <a:r>
              <a:t>• nodes/{nodeId}/thresholds: Lưu ngưỡng cảnh báo (tempMax, humMax, gasMax).</a:t>
            </a:r>
          </a:p>
          <a:p>
            <a:pPr>
              <a:spcAft>
                <a:spcPts val="800"/>
              </a:spcAft>
              <a:defRPr sz="1050">
                <a:solidFill>
                  <a:srgbClr val="0F172A"/>
                </a:solidFill>
              </a:defRPr>
            </a:pPr>
            <a:r>
              <a:t>• nodes/{nodeId}/timerConfig: Cấu hình hẹn giờ bật/tắt thiết bị theo ca làm việc.</a:t>
            </a:r>
          </a:p>
          <a:p>
            <a:pPr>
              <a:spcAft>
                <a:spcPts val="800"/>
              </a:spcAft>
              <a:defRPr sz="1050">
                <a:solidFill>
                  <a:srgbClr val="0F172A"/>
                </a:solidFill>
              </a:defRPr>
            </a:pPr>
            <a:r>
              <a:t>• nodes/{nodeId}/readings/{autoId}: Lịch sử đo môi trường chu kỳ 30s để vẽ biểu đồ.</a:t>
            </a:r>
          </a:p>
        </p:txBody>
      </p:sp>
      <p:sp>
        <p:nvSpPr>
          <p:cNvPr id="17" name="Rounded Rectangle 16"/>
          <p:cNvSpPr/>
          <p:nvPr/>
        </p:nvSpPr>
        <p:spPr>
          <a:xfrm>
            <a:off x="8229600" y="1280160"/>
            <a:ext cx="338328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29600" y="1280160"/>
            <a:ext cx="338328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1280160"/>
            <a:ext cx="91440" cy="38404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80" y="1316736"/>
            <a:ext cx="3108960" cy="320040"/>
          </a:xfrm>
          <a:prstGeom prst="rect">
            <a:avLst/>
          </a:prstGeom>
          <a:noFill/>
        </p:spPr>
        <p:txBody>
          <a:bodyPr wrap="none" anchor="ctr">
            <a:spAutoFit/>
          </a:bodyPr>
          <a:lstStyle/>
          <a:p>
            <a:pPr>
              <a:defRPr sz="1250" b="1">
                <a:solidFill>
                  <a:srgbClr val="0F172A"/>
                </a:solidFill>
              </a:defRPr>
            </a:pPr>
            <a:r>
              <a:t>3. CHIẾN LƯỢC TỐI ƯU HẠN MỨC</a:t>
            </a:r>
          </a:p>
        </p:txBody>
      </p:sp>
      <p:sp>
        <p:nvSpPr>
          <p:cNvPr id="21" name="TextBox 20"/>
          <p:cNvSpPr txBox="1"/>
          <p:nvPr/>
        </p:nvSpPr>
        <p:spPr>
          <a:xfrm>
            <a:off x="8366760" y="1783080"/>
            <a:ext cx="3108960" cy="4572000"/>
          </a:xfrm>
          <a:prstGeom prst="rect">
            <a:avLst/>
          </a:prstGeom>
          <a:noFill/>
        </p:spPr>
        <p:txBody>
          <a:bodyPr wrap="square">
            <a:spAutoFit/>
          </a:bodyPr>
          <a:lstStyle/>
          <a:p>
            <a:pPr>
              <a:spcAft>
                <a:spcPts val="800"/>
              </a:spcAft>
              <a:defRPr sz="1050">
                <a:solidFill>
                  <a:srgbClr val="0F172A"/>
                </a:solidFill>
              </a:defRPr>
            </a:pPr>
            <a:r>
              <a:t>Giới hạn tần suất ghi (Throttling):</a:t>
            </a:r>
          </a:p>
          <a:p>
            <a:pPr>
              <a:spcAft>
                <a:spcPts val="800"/>
              </a:spcAft>
              <a:defRPr sz="1050">
                <a:solidFill>
                  <a:srgbClr val="0F172A"/>
                </a:solidFill>
              </a:defRPr>
            </a:pPr>
            <a:r>
              <a:t>• Ứng dụng chỉ ghi lịch sử lên Firestore tối thiểu 30 giây/lần cho mỗi node.</a:t>
            </a:r>
          </a:p>
          <a:p>
            <a:pPr>
              <a:spcAft>
                <a:spcPts val="800"/>
              </a:spcAft>
              <a:defRPr sz="1050">
                <a:solidFill>
                  <a:srgbClr val="0F172A"/>
                </a:solidFill>
              </a:defRPr>
            </a:pPr>
            <a:r>
              <a:t>• Tối ưu hạn mức gói miễn phí (Spark Plan: 20,000 lần ghi/ngày).</a:t>
            </a:r>
          </a:p>
          <a:p>
            <a:pPr>
              <a:spcAft>
                <a:spcPts val="800"/>
              </a:spcAft>
              <a:defRPr sz="1050">
                <a:solidFill>
                  <a:srgbClr val="0F172A"/>
                </a:solidFill>
              </a:defRPr>
            </a:pPr>
            <a:r>
              <a:t>• Dữ liệu thời gian thực vẫn chạy mượt qua MQTT mà không phụ thuộc Firestore.</a:t>
            </a:r>
          </a:p>
          <a:p>
            <a:pPr>
              <a:spcAft>
                <a:spcPts val="800"/>
              </a:spcAft>
              <a:defRPr sz="1050">
                <a:solidFill>
                  <a:srgbClr val="0F172A"/>
                </a:solidFill>
              </a:defRPr>
            </a:pPr>
            <a:r>
              <a:t>Ghi sự kiện khẩn cấp: Khi alarm chuyển sang true, sự cố được ghi nhận tức thì để phục vụ truy vết.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07</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KIẾN TRÚC PHẦN MỀM REACT NATIVE</a:t>
            </a:r>
          </a:p>
          <a:p>
            <a:pPr>
              <a:defRPr sz="1150">
                <a:solidFill>
                  <a:srgbClr val="94A3B8"/>
                </a:solidFill>
              </a:defRPr>
            </a:pPr>
            <a:r>
              <a:t>Tổ chức ứng dụng đa nền tảng, quản lý trạng thái tập trung Zustand và Services</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8 / 16</a:t>
            </a:r>
          </a:p>
        </p:txBody>
      </p:sp>
      <p:sp>
        <p:nvSpPr>
          <p:cNvPr id="7" name="Rounded Rectangle 6"/>
          <p:cNvSpPr/>
          <p:nvPr/>
        </p:nvSpPr>
        <p:spPr>
          <a:xfrm>
            <a:off x="548640" y="1280160"/>
            <a:ext cx="59436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9436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669280" cy="320040"/>
          </a:xfrm>
          <a:prstGeom prst="rect">
            <a:avLst/>
          </a:prstGeom>
          <a:noFill/>
        </p:spPr>
        <p:txBody>
          <a:bodyPr wrap="none" anchor="ctr">
            <a:spAutoFit/>
          </a:bodyPr>
          <a:lstStyle/>
          <a:p>
            <a:pPr>
              <a:defRPr sz="1250" b="1">
                <a:solidFill>
                  <a:srgbClr val="0F172A"/>
                </a:solidFill>
              </a:defRPr>
            </a:pPr>
            <a:r>
              <a:t>KIẾN TRÚC PHẦN MỀM ỨNG DỤNG (HÌNH 3.6)</a:t>
            </a:r>
          </a:p>
        </p:txBody>
      </p:sp>
      <p:pic>
        <p:nvPicPr>
          <p:cNvPr id="11" name="Picture 10" descr="doc1_image6.png"/>
          <p:cNvPicPr>
            <a:picLocks noChangeAspect="1"/>
          </p:cNvPicPr>
          <p:nvPr/>
        </p:nvPicPr>
        <p:blipFill>
          <a:blip r:embed="rId2"/>
          <a:stretch>
            <a:fillRect/>
          </a:stretch>
        </p:blipFill>
        <p:spPr>
          <a:xfrm>
            <a:off x="731520" y="2167128"/>
            <a:ext cx="5577840" cy="3346704"/>
          </a:xfrm>
          <a:prstGeom prst="rect">
            <a:avLst/>
          </a:prstGeom>
        </p:spPr>
      </p:pic>
      <p:sp>
        <p:nvSpPr>
          <p:cNvPr id="12" name="TextBox 11"/>
          <p:cNvSpPr txBox="1"/>
          <p:nvPr/>
        </p:nvSpPr>
        <p:spPr>
          <a:xfrm>
            <a:off x="731520" y="5916168"/>
            <a:ext cx="5577840" cy="320040"/>
          </a:xfrm>
          <a:prstGeom prst="rect">
            <a:avLst/>
          </a:prstGeom>
          <a:noFill/>
        </p:spPr>
        <p:txBody>
          <a:bodyPr wrap="square" lIns="0" tIns="0" rIns="0" bIns="0">
            <a:spAutoFit/>
          </a:bodyPr>
          <a:lstStyle/>
          <a:p>
            <a:pPr algn="ctr">
              <a:defRPr sz="950" i="1">
                <a:solidFill>
                  <a:srgbClr val="475569"/>
                </a:solidFill>
              </a:defRPr>
            </a:pPr>
            <a:r>
              <a:t>Hình 3.6: Phân chia trách nhiệm giữa Navigation, Zustand Store và Services</a:t>
            </a:r>
          </a:p>
        </p:txBody>
      </p:sp>
      <p:sp>
        <p:nvSpPr>
          <p:cNvPr id="13" name="Rounded Rectangle 12"/>
          <p:cNvSpPr/>
          <p:nvPr/>
        </p:nvSpPr>
        <p:spPr>
          <a:xfrm>
            <a:off x="6675120" y="1280160"/>
            <a:ext cx="49377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75120" y="1280160"/>
            <a:ext cx="49377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0" y="1316736"/>
            <a:ext cx="4663440" cy="320040"/>
          </a:xfrm>
          <a:prstGeom prst="rect">
            <a:avLst/>
          </a:prstGeom>
          <a:noFill/>
        </p:spPr>
        <p:txBody>
          <a:bodyPr wrap="none" anchor="ctr">
            <a:spAutoFit/>
          </a:bodyPr>
          <a:lstStyle/>
          <a:p>
            <a:pPr>
              <a:defRPr sz="1250" b="1">
                <a:solidFill>
                  <a:srgbClr val="0F172A"/>
                </a:solidFill>
              </a:defRPr>
            </a:pPr>
            <a:r>
              <a:t>PHÂN TÁCH MODULE &amp; STATE MANAGEMENT</a:t>
            </a:r>
          </a:p>
        </p:txBody>
      </p:sp>
      <p:sp>
        <p:nvSpPr>
          <p:cNvPr id="17" name="TextBox 16"/>
          <p:cNvSpPr txBox="1"/>
          <p:nvPr/>
        </p:nvSpPr>
        <p:spPr>
          <a:xfrm>
            <a:off x="6858000" y="1737360"/>
            <a:ext cx="4572000" cy="4663440"/>
          </a:xfrm>
          <a:prstGeom prst="rect">
            <a:avLst/>
          </a:prstGeom>
          <a:noFill/>
        </p:spPr>
        <p:txBody>
          <a:bodyPr wrap="square">
            <a:spAutoFit/>
          </a:bodyPr>
          <a:lstStyle/>
          <a:p>
            <a:pPr>
              <a:spcAft>
                <a:spcPts val="200"/>
              </a:spcAft>
              <a:defRPr sz="1100" b="1">
                <a:solidFill>
                  <a:srgbClr val="0284C7"/>
                </a:solidFill>
              </a:defRPr>
            </a:pPr>
            <a:r>
              <a:t>1. CÔNG NGHỆ NỀN TẢNG:</a:t>
            </a:r>
          </a:p>
          <a:p>
            <a:pPr>
              <a:spcAft>
                <a:spcPts val="200"/>
              </a:spcAft>
              <a:defRPr sz="1000">
                <a:solidFill>
                  <a:srgbClr val="0F172A"/>
                </a:solidFill>
              </a:defRPr>
            </a:pPr>
            <a:r>
              <a:t>• React Native + Expo SDK: Hỗ trợ cross-platform mượt mà trên Android và iOS.</a:t>
            </a:r>
          </a:p>
          <a:p>
            <a:pPr>
              <a:spcAft>
                <a:spcPts val="200"/>
              </a:spcAft>
              <a:defRPr sz="1000">
                <a:solidFill>
                  <a:srgbClr val="0F172A"/>
                </a:solidFill>
              </a:defRPr>
            </a:pPr>
            <a:r>
              <a:t>• TypeScript: Định kiểu dữ liệu chặt chẽ cho toàn bộ bản tin và state.</a:t>
            </a:r>
          </a:p>
          <a:p>
            <a:pPr>
              <a:spcAft>
                <a:spcPts val="400"/>
              </a:spcAft>
            </a:pPr>
            <a:endParaRPr/>
          </a:p>
          <a:p>
            <a:pPr>
              <a:spcAft>
                <a:spcPts val="200"/>
              </a:spcAft>
              <a:defRPr sz="1100" b="1">
                <a:solidFill>
                  <a:srgbClr val="0284C7"/>
                </a:solidFill>
              </a:defRPr>
            </a:pPr>
            <a:r>
              <a:t>2. QUẢN LÝ TRẠNG THÁI VỚI ZUSTAND (useNodeStore.ts):</a:t>
            </a:r>
          </a:p>
          <a:p>
            <a:pPr>
              <a:spcAft>
                <a:spcPts val="200"/>
              </a:spcAft>
              <a:defRPr sz="1000">
                <a:solidFill>
                  <a:srgbClr val="0F172A"/>
                </a:solidFill>
              </a:defRPr>
            </a:pPr>
            <a:r>
              <a:t>• Quản lý danh sách node, node đang chọn hiển thị (`selectedNodeId`).</a:t>
            </a:r>
          </a:p>
          <a:p>
            <a:pPr>
              <a:spcAft>
                <a:spcPts val="200"/>
              </a:spcAft>
              <a:defRPr sz="1000">
                <a:solidFill>
                  <a:srgbClr val="0F172A"/>
                </a:solidFill>
              </a:defRPr>
            </a:pPr>
            <a:r>
              <a:t>• Lưu giá trị cảm biến mới nhất, cờ cảnh báo và trạng thái kết nối.</a:t>
            </a:r>
          </a:p>
          <a:p>
            <a:pPr>
              <a:spcAft>
                <a:spcPts val="200"/>
              </a:spcAft>
              <a:defRPr sz="1000">
                <a:solidFill>
                  <a:srgbClr val="0F172A"/>
                </a:solidFill>
              </a:defRPr>
            </a:pPr>
            <a:r>
              <a:t>• Hiệu năng vượt trội: Tối ưu re-render component nhanh hơn Redux đáng kể.</a:t>
            </a:r>
          </a:p>
          <a:p>
            <a:pPr>
              <a:spcAft>
                <a:spcPts val="400"/>
              </a:spcAft>
            </a:pPr>
            <a:endParaRPr/>
          </a:p>
          <a:p>
            <a:pPr>
              <a:spcAft>
                <a:spcPts val="200"/>
              </a:spcAft>
              <a:defRPr sz="1100" b="1">
                <a:solidFill>
                  <a:srgbClr val="0284C7"/>
                </a:solidFill>
              </a:defRPr>
            </a:pPr>
            <a:r>
              <a:t>3. PHÂN TÁCH TẦNG DỊCH VỤ (SERVICE LAYER):</a:t>
            </a:r>
          </a:p>
          <a:p>
            <a:pPr>
              <a:spcAft>
                <a:spcPts val="200"/>
              </a:spcAft>
              <a:defRPr sz="1000">
                <a:solidFill>
                  <a:srgbClr val="0F172A"/>
                </a:solidFill>
              </a:defRPr>
            </a:pPr>
            <a:r>
              <a:t>• MqttService: Kết nối WebSocket, subscribe topic, parse JSON, tự động kết nối lại mỗi 5s.</a:t>
            </a:r>
          </a:p>
          <a:p>
            <a:pPr>
              <a:spcAft>
                <a:spcPts val="200"/>
              </a:spcAft>
              <a:defRPr sz="1000">
                <a:solidFill>
                  <a:srgbClr val="0F172A"/>
                </a:solidFill>
              </a:defRPr>
            </a:pPr>
            <a:r>
              <a:t>• FirebaseService: Xác thực Auth, đồng bộ cấu hình và ghi dữ liệu lịch sử vào Firestore.</a:t>
            </a:r>
          </a:p>
          <a:p>
            <a:pPr>
              <a:spcAft>
                <a:spcPts val="200"/>
              </a:spcAft>
              <a:defRPr sz="1000">
                <a:solidFill>
                  <a:srgbClr val="0F172A"/>
                </a:solidFill>
              </a:defRPr>
            </a:pPr>
            <a:r>
              <a:t>• NotificationService: Kích hoạt âm thanh, rung và thông báo cục bộ khi vượt ngưỡng.</a:t>
            </a:r>
          </a:p>
          <a:p>
            <a:pPr>
              <a:spcAft>
                <a:spcPts val="200"/>
              </a:spcAft>
              <a:defRPr sz="1000">
                <a:solidFill>
                  <a:srgbClr val="0F172A"/>
                </a:solidFill>
              </a:defRPr>
            </a:pPr>
            <a:r>
              <a:t>• TimeSyncService: Tự động gửi mốc giờ epoch đồng bộ RTC khi kết nối MQTT thành công.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08</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THIẾT KẾ GIAO DIỆN &amp; CẤU TRÚC ĐIỀU HƯỚNG</a:t>
            </a:r>
          </a:p>
          <a:p>
            <a:pPr>
              <a:defRPr sz="1150">
                <a:solidFill>
                  <a:srgbClr val="94A3B8"/>
                </a:solidFill>
              </a:defRPr>
            </a:pPr>
            <a:r>
              <a:t>Cấu trúc 5 màn hình chức năng chính và cơ chế chuyển đổi trực quan</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9 / 16</a:t>
            </a:r>
          </a:p>
        </p:txBody>
      </p:sp>
      <p:sp>
        <p:nvSpPr>
          <p:cNvPr id="7" name="Rounded Rectangle 6"/>
          <p:cNvSpPr/>
          <p:nvPr/>
        </p:nvSpPr>
        <p:spPr>
          <a:xfrm>
            <a:off x="548640" y="1280160"/>
            <a:ext cx="59436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9436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669280" cy="320040"/>
          </a:xfrm>
          <a:prstGeom prst="rect">
            <a:avLst/>
          </a:prstGeom>
          <a:noFill/>
        </p:spPr>
        <p:txBody>
          <a:bodyPr wrap="none" anchor="ctr">
            <a:spAutoFit/>
          </a:bodyPr>
          <a:lstStyle/>
          <a:p>
            <a:pPr>
              <a:defRPr sz="1250" b="1">
                <a:solidFill>
                  <a:srgbClr val="0F172A"/>
                </a:solidFill>
              </a:defRPr>
            </a:pPr>
            <a:r>
              <a:t>CẤU TRÚC ĐIỀU HƯỚNG MÀN HÌNH (HÌNH 3.7)</a:t>
            </a:r>
          </a:p>
        </p:txBody>
      </p:sp>
      <p:pic>
        <p:nvPicPr>
          <p:cNvPr id="11" name="Picture 10" descr="doc1_image7.png"/>
          <p:cNvPicPr>
            <a:picLocks noChangeAspect="1"/>
          </p:cNvPicPr>
          <p:nvPr/>
        </p:nvPicPr>
        <p:blipFill>
          <a:blip r:embed="rId2"/>
          <a:stretch>
            <a:fillRect/>
          </a:stretch>
        </p:blipFill>
        <p:spPr>
          <a:xfrm>
            <a:off x="731520" y="2631948"/>
            <a:ext cx="5577840" cy="2417064"/>
          </a:xfrm>
          <a:prstGeom prst="rect">
            <a:avLst/>
          </a:prstGeom>
        </p:spPr>
      </p:pic>
      <p:sp>
        <p:nvSpPr>
          <p:cNvPr id="12" name="TextBox 11"/>
          <p:cNvSpPr txBox="1"/>
          <p:nvPr/>
        </p:nvSpPr>
        <p:spPr>
          <a:xfrm>
            <a:off x="731520" y="5916168"/>
            <a:ext cx="5577840" cy="320040"/>
          </a:xfrm>
          <a:prstGeom prst="rect">
            <a:avLst/>
          </a:prstGeom>
          <a:noFill/>
        </p:spPr>
        <p:txBody>
          <a:bodyPr wrap="square" lIns="0" tIns="0" rIns="0" bIns="0">
            <a:spAutoFit/>
          </a:bodyPr>
          <a:lstStyle/>
          <a:p>
            <a:pPr algn="ctr">
              <a:defRPr sz="950" i="1">
                <a:solidFill>
                  <a:srgbClr val="475569"/>
                </a:solidFill>
              </a:defRPr>
            </a:pPr>
            <a:r>
              <a:t>Hình 3.7: Cấu trúc điều hướng TabNavigator từ Đăng nhập đến 5 màn hình chính</a:t>
            </a:r>
          </a:p>
        </p:txBody>
      </p:sp>
      <p:sp>
        <p:nvSpPr>
          <p:cNvPr id="13" name="Rounded Rectangle 12"/>
          <p:cNvSpPr/>
          <p:nvPr/>
        </p:nvSpPr>
        <p:spPr>
          <a:xfrm>
            <a:off x="6675120" y="1280160"/>
            <a:ext cx="49377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75120" y="1280160"/>
            <a:ext cx="49377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0" y="1316736"/>
            <a:ext cx="4663440" cy="320040"/>
          </a:xfrm>
          <a:prstGeom prst="rect">
            <a:avLst/>
          </a:prstGeom>
          <a:noFill/>
        </p:spPr>
        <p:txBody>
          <a:bodyPr wrap="none" anchor="ctr">
            <a:spAutoFit/>
          </a:bodyPr>
          <a:lstStyle/>
          <a:p>
            <a:pPr>
              <a:defRPr sz="1250" b="1">
                <a:solidFill>
                  <a:srgbClr val="0F172A"/>
                </a:solidFill>
              </a:defRPr>
            </a:pPr>
            <a:r>
              <a:t>5 NHÓM MÀN HÌNH CHÍNH (TAB NAVIGATOR)</a:t>
            </a:r>
          </a:p>
        </p:txBody>
      </p:sp>
      <p:sp>
        <p:nvSpPr>
          <p:cNvPr id="17" name="TextBox 16"/>
          <p:cNvSpPr txBox="1"/>
          <p:nvPr/>
        </p:nvSpPr>
        <p:spPr>
          <a:xfrm>
            <a:off x="6858000" y="1737360"/>
            <a:ext cx="4572000" cy="4663440"/>
          </a:xfrm>
          <a:prstGeom prst="rect">
            <a:avLst/>
          </a:prstGeom>
          <a:noFill/>
        </p:spPr>
        <p:txBody>
          <a:bodyPr wrap="square">
            <a:spAutoFit/>
          </a:bodyPr>
          <a:lstStyle/>
          <a:p>
            <a:pPr>
              <a:spcAft>
                <a:spcPts val="100"/>
              </a:spcAft>
              <a:defRPr sz="1050" b="1">
                <a:solidFill>
                  <a:srgbClr val="0284C7"/>
                </a:solidFill>
              </a:defRPr>
            </a:pPr>
            <a:r>
              <a:t>1. MÀN HÌNH GIÁM SÁT (MonitorScreen):</a:t>
            </a:r>
          </a:p>
          <a:p>
            <a:pPr>
              <a:spcAft>
                <a:spcPts val="200"/>
              </a:spcAft>
              <a:defRPr sz="950">
                <a:solidFill>
                  <a:srgbClr val="0F172A"/>
                </a:solidFill>
              </a:defRPr>
            </a:pPr>
            <a:r>
              <a:t>• Dashboard trung tâm hiển thị chỉ số Nhiệt độ, Độ ẩm, Nồng độ Gas.</a:t>
            </a:r>
          </a:p>
          <a:p>
            <a:pPr>
              <a:spcAft>
                <a:spcPts val="200"/>
              </a:spcAft>
              <a:defRPr sz="950">
                <a:solidFill>
                  <a:srgbClr val="0F172A"/>
                </a:solidFill>
              </a:defRPr>
            </a:pPr>
            <a:r>
              <a:t>• Thẻ trạng thái màu cảnh báo trực quan; nút bật/tắt Relay quạt tức thời.</a:t>
            </a:r>
          </a:p>
          <a:p>
            <a:pPr>
              <a:spcAft>
                <a:spcPts val="200"/>
              </a:spcAft>
              <a:defRPr sz="950">
                <a:solidFill>
                  <a:srgbClr val="0F172A"/>
                </a:solidFill>
              </a:defRPr>
            </a:pPr>
            <a:r>
              <a:t>• Cho phép chọn chuyển đổi xem dữ liệu giữa Node 2, Node 3...</a:t>
            </a:r>
          </a:p>
          <a:p>
            <a:pPr>
              <a:spcAft>
                <a:spcPts val="300"/>
              </a:spcAft>
            </a:pPr>
            <a:endParaRPr/>
          </a:p>
          <a:p>
            <a:pPr>
              <a:spcAft>
                <a:spcPts val="100"/>
              </a:spcAft>
              <a:defRPr sz="1050" b="1">
                <a:solidFill>
                  <a:srgbClr val="0284C7"/>
                </a:solidFill>
              </a:defRPr>
            </a:pPr>
            <a:r>
              <a:t>2. MÀN HÌNH HẸN GIỜ (TimerScreen):</a:t>
            </a:r>
          </a:p>
          <a:p>
            <a:pPr>
              <a:spcAft>
                <a:spcPts val="200"/>
              </a:spcAft>
              <a:defRPr sz="950">
                <a:solidFill>
                  <a:srgbClr val="0F172A"/>
                </a:solidFill>
              </a:defRPr>
            </a:pPr>
            <a:r>
              <a:t>• Cài đặt khung giờ tự động kích hoạt relay quạt hút theo ca làm việc.</a:t>
            </a:r>
          </a:p>
          <a:p>
            <a:pPr>
              <a:spcAft>
                <a:spcPts val="300"/>
              </a:spcAft>
            </a:pPr>
            <a:endParaRPr/>
          </a:p>
          <a:p>
            <a:pPr>
              <a:spcAft>
                <a:spcPts val="100"/>
              </a:spcAft>
              <a:defRPr sz="1050" b="1">
                <a:solidFill>
                  <a:srgbClr val="0284C7"/>
                </a:solidFill>
              </a:defRPr>
            </a:pPr>
            <a:r>
              <a:t>3. MÀN HÌNH CÀI ĐẶT NGƯỠNG (ThresholdScreen):</a:t>
            </a:r>
          </a:p>
          <a:p>
            <a:pPr>
              <a:spcAft>
                <a:spcPts val="200"/>
              </a:spcAft>
              <a:defRPr sz="950">
                <a:solidFill>
                  <a:srgbClr val="0F172A"/>
                </a:solidFill>
              </a:defRPr>
            </a:pPr>
            <a:r>
              <a:t>• Thanh trượt điều chỉnh mức giới hạn an toàn nhiệt độ, độ ẩm, khí gas.</a:t>
            </a:r>
          </a:p>
          <a:p>
            <a:pPr>
              <a:spcAft>
                <a:spcPts val="200"/>
              </a:spcAft>
              <a:defRPr sz="950">
                <a:solidFill>
                  <a:srgbClr val="0F172A"/>
                </a:solidFill>
              </a:defRPr>
            </a:pPr>
            <a:r>
              <a:t>• Nút lưu gửi lệnh xuống firmware ESP32 và đồng bộ lên Cloud Firestore.</a:t>
            </a:r>
          </a:p>
          <a:p>
            <a:pPr>
              <a:spcAft>
                <a:spcPts val="300"/>
              </a:spcAft>
            </a:pPr>
            <a:endParaRPr/>
          </a:p>
          <a:p>
            <a:pPr>
              <a:spcAft>
                <a:spcPts val="100"/>
              </a:spcAft>
              <a:defRPr sz="1050" b="1">
                <a:solidFill>
                  <a:srgbClr val="0284C7"/>
                </a:solidFill>
              </a:defRPr>
            </a:pPr>
            <a:r>
              <a:t>4. MÀN HÌNH LỊCH SỬ (HistoryScreen):</a:t>
            </a:r>
          </a:p>
          <a:p>
            <a:pPr>
              <a:spcAft>
                <a:spcPts val="200"/>
              </a:spcAft>
              <a:defRPr sz="950">
                <a:solidFill>
                  <a:srgbClr val="0F172A"/>
                </a:solidFill>
              </a:defRPr>
            </a:pPr>
            <a:r>
              <a:t>• Vẽ biểu đồ đường (Line Chart) diễn biến các thông số theo thời gian.</a:t>
            </a:r>
          </a:p>
          <a:p>
            <a:pPr>
              <a:spcAft>
                <a:spcPts val="300"/>
              </a:spcAft>
            </a:pPr>
            <a:endParaRPr/>
          </a:p>
          <a:p>
            <a:pPr>
              <a:spcAft>
                <a:spcPts val="100"/>
              </a:spcAft>
              <a:defRPr sz="1050" b="1">
                <a:solidFill>
                  <a:srgbClr val="0284C7"/>
                </a:solidFill>
              </a:defRPr>
            </a:pPr>
            <a:r>
              <a:t>5. MÀN HÌNH HỆ THỐNG &amp; QR SCAN (SystemScreen):</a:t>
            </a:r>
          </a:p>
          <a:p>
            <a:pPr>
              <a:spcAft>
                <a:spcPts val="200"/>
              </a:spcAft>
              <a:defRPr sz="950">
                <a:solidFill>
                  <a:srgbClr val="0F172A"/>
                </a:solidFill>
              </a:defRPr>
            </a:pPr>
            <a:r>
              <a:t>• Quét mã QR trên thân hộp phần cứng để ghép node mới vào tài khoản.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09</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LƯU ĐỒ HOẠT ĐỘNG &amp; XỬ LÝ THỜI GIAN THỰC</a:t>
            </a:r>
          </a:p>
          <a:p>
            <a:pPr>
              <a:defRPr sz="1150">
                <a:solidFill>
                  <a:srgbClr val="94A3B8"/>
                </a:solidFill>
              </a:defRPr>
            </a:pPr>
            <a:r>
              <a:t>Quy trình vận hành từ khởi tạo kết nối đến cơ chế nhận diện ngoại tuyến</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10 / 16</a:t>
            </a:r>
          </a:p>
        </p:txBody>
      </p:sp>
      <p:sp>
        <p:nvSpPr>
          <p:cNvPr id="7" name="Rounded Rectangle 6"/>
          <p:cNvSpPr/>
          <p:nvPr/>
        </p:nvSpPr>
        <p:spPr>
          <a:xfrm>
            <a:off x="548640" y="1280160"/>
            <a:ext cx="54864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4864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212080" cy="320040"/>
          </a:xfrm>
          <a:prstGeom prst="rect">
            <a:avLst/>
          </a:prstGeom>
          <a:noFill/>
        </p:spPr>
        <p:txBody>
          <a:bodyPr wrap="none" anchor="ctr">
            <a:spAutoFit/>
          </a:bodyPr>
          <a:lstStyle/>
          <a:p>
            <a:pPr>
              <a:defRPr sz="1250" b="1">
                <a:solidFill>
                  <a:srgbClr val="0F172A"/>
                </a:solidFill>
              </a:defRPr>
            </a:pPr>
            <a:r>
              <a:t>LƯU ĐỒ HOẠT ĐỘNG ỨNG DỤNG (HÌNH 3.8)</a:t>
            </a:r>
          </a:p>
        </p:txBody>
      </p:sp>
      <p:pic>
        <p:nvPicPr>
          <p:cNvPr id="11" name="Picture 10" descr="doc1_image8.png"/>
          <p:cNvPicPr>
            <a:picLocks noChangeAspect="1"/>
          </p:cNvPicPr>
          <p:nvPr/>
        </p:nvPicPr>
        <p:blipFill>
          <a:blip r:embed="rId2"/>
          <a:stretch>
            <a:fillRect/>
          </a:stretch>
        </p:blipFill>
        <p:spPr>
          <a:xfrm>
            <a:off x="822960" y="1783080"/>
            <a:ext cx="4937760" cy="4114800"/>
          </a:xfrm>
          <a:prstGeom prst="rect">
            <a:avLst/>
          </a:prstGeom>
        </p:spPr>
      </p:pic>
      <p:sp>
        <p:nvSpPr>
          <p:cNvPr id="12" name="TextBox 11"/>
          <p:cNvSpPr txBox="1"/>
          <p:nvPr/>
        </p:nvSpPr>
        <p:spPr>
          <a:xfrm>
            <a:off x="731520" y="5916168"/>
            <a:ext cx="5120640" cy="320040"/>
          </a:xfrm>
          <a:prstGeom prst="rect">
            <a:avLst/>
          </a:prstGeom>
          <a:noFill/>
        </p:spPr>
        <p:txBody>
          <a:bodyPr wrap="square" lIns="0" tIns="0" rIns="0" bIns="0">
            <a:spAutoFit/>
          </a:bodyPr>
          <a:lstStyle/>
          <a:p>
            <a:pPr algn="ctr">
              <a:defRPr sz="950" i="1">
                <a:solidFill>
                  <a:srgbClr val="475569"/>
                </a:solidFill>
              </a:defRPr>
            </a:pPr>
            <a:r>
              <a:t>Hình 3.8: Lưu đồ khởi tạo phiên, xử lý bản tin MQTT và cảnh báo vượt ngưỡng</a:t>
            </a:r>
          </a:p>
        </p:txBody>
      </p:sp>
      <p:sp>
        <p:nvSpPr>
          <p:cNvPr id="13" name="Rounded Rectangle 12"/>
          <p:cNvSpPr/>
          <p:nvPr/>
        </p:nvSpPr>
        <p:spPr>
          <a:xfrm>
            <a:off x="621792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316736"/>
            <a:ext cx="5120640" cy="320040"/>
          </a:xfrm>
          <a:prstGeom prst="rect">
            <a:avLst/>
          </a:prstGeom>
          <a:noFill/>
        </p:spPr>
        <p:txBody>
          <a:bodyPr wrap="none" anchor="ctr">
            <a:spAutoFit/>
          </a:bodyPr>
          <a:lstStyle/>
          <a:p>
            <a:pPr>
              <a:defRPr sz="1250" b="1">
                <a:solidFill>
                  <a:srgbClr val="0F172A"/>
                </a:solidFill>
              </a:defRPr>
            </a:pPr>
            <a:r>
              <a:t>QUY TRÌNH XỬ LÝ DỮ LIỆU THỜI GIAN THỰC</a:t>
            </a:r>
          </a:p>
        </p:txBody>
      </p:sp>
      <p:sp>
        <p:nvSpPr>
          <p:cNvPr id="17" name="TextBox 16"/>
          <p:cNvSpPr txBox="1"/>
          <p:nvPr/>
        </p:nvSpPr>
        <p:spPr>
          <a:xfrm>
            <a:off x="6400800" y="1737360"/>
            <a:ext cx="5029200" cy="4663440"/>
          </a:xfrm>
          <a:prstGeom prst="rect">
            <a:avLst/>
          </a:prstGeom>
          <a:noFill/>
        </p:spPr>
        <p:txBody>
          <a:bodyPr wrap="square">
            <a:spAutoFit/>
          </a:bodyPr>
          <a:lstStyle/>
          <a:p>
            <a:pPr>
              <a:spcAft>
                <a:spcPts val="200"/>
              </a:spcAft>
              <a:defRPr sz="1100" b="1">
                <a:solidFill>
                  <a:srgbClr val="0284C7"/>
                </a:solidFill>
              </a:defRPr>
            </a:pPr>
            <a:r>
              <a:t>1. KHỞI TẠO VÀ ĐỒNG BỘ BAN ĐẦU:</a:t>
            </a:r>
          </a:p>
          <a:p>
            <a:pPr>
              <a:spcAft>
                <a:spcPts val="200"/>
              </a:spcAft>
              <a:defRPr sz="1000">
                <a:solidFill>
                  <a:srgbClr val="0F172A"/>
                </a:solidFill>
              </a:defRPr>
            </a:pPr>
            <a:r>
              <a:t>• Kiểm tra phiên đăng nhập Firebase -&gt; Tải cấu hình ngưỡng từ Firestore.</a:t>
            </a:r>
          </a:p>
          <a:p>
            <a:pPr>
              <a:spcAft>
                <a:spcPts val="200"/>
              </a:spcAft>
              <a:defRPr sz="1000">
                <a:solidFill>
                  <a:srgbClr val="0F172A"/>
                </a:solidFill>
              </a:defRPr>
            </a:pPr>
            <a:r>
              <a:t>• Khởi tạo WebSocket kết nối MQTT broker -&gt; Subscribe các topic `node+/data` và `time`.</a:t>
            </a:r>
          </a:p>
          <a:p>
            <a:pPr>
              <a:spcAft>
                <a:spcPts val="200"/>
              </a:spcAft>
              <a:defRPr sz="1000">
                <a:solidFill>
                  <a:srgbClr val="0F172A"/>
                </a:solidFill>
              </a:defRPr>
            </a:pPr>
            <a:r>
              <a:t>• Gửi gói tin epoch đồng bộ mốc thời gian chuẩn xuống đồng hồ RTC DS3231.</a:t>
            </a:r>
          </a:p>
          <a:p>
            <a:pPr>
              <a:spcAft>
                <a:spcPts val="400"/>
              </a:spcAft>
            </a:pPr>
            <a:endParaRPr/>
          </a:p>
          <a:p>
            <a:pPr>
              <a:spcAft>
                <a:spcPts val="200"/>
              </a:spcAft>
              <a:defRPr sz="1100" b="1">
                <a:solidFill>
                  <a:srgbClr val="0284C7"/>
                </a:solidFill>
              </a:defRPr>
            </a:pPr>
            <a:r>
              <a:t>2. TIẾP NHẬN &amp; PHÂN LOẠI DỮ LIỆU CẢM BIẾN:</a:t>
            </a:r>
          </a:p>
          <a:p>
            <a:pPr>
              <a:spcAft>
                <a:spcPts val="200"/>
              </a:spcAft>
              <a:defRPr sz="1000">
                <a:solidFill>
                  <a:srgbClr val="0F172A"/>
                </a:solidFill>
              </a:defRPr>
            </a:pPr>
            <a:r>
              <a:t>• Khi nhận bản tin từ Topic data: Bóc tách JSON -&gt; Cập nhật vào Zustand Store tức thì.</a:t>
            </a:r>
          </a:p>
          <a:p>
            <a:pPr>
              <a:spcAft>
                <a:spcPts val="200"/>
              </a:spcAft>
              <a:defRPr sz="1000">
                <a:solidFill>
                  <a:srgbClr val="0F172A"/>
                </a:solidFill>
              </a:defRPr>
            </a:pPr>
            <a:r>
              <a:t>• Đánh giá ngưỡng an toàn: Nếu thông số vượt giới hạn -&gt; Kích hoạt chuông và rung cảnh báo.</a:t>
            </a:r>
          </a:p>
          <a:p>
            <a:pPr>
              <a:spcAft>
                <a:spcPts val="200"/>
              </a:spcAft>
              <a:defRPr sz="1000">
                <a:solidFill>
                  <a:srgbClr val="0F172A"/>
                </a:solidFill>
              </a:defRPr>
            </a:pPr>
            <a:r>
              <a:t>• Bộ định thời kiểm tra: Nếu thời gian kể từ lần lưu trước ≥ 30 giây -&gt; Ghi bản ghi vào Cloud Firestore.</a:t>
            </a:r>
          </a:p>
          <a:p>
            <a:pPr>
              <a:spcAft>
                <a:spcPts val="400"/>
              </a:spcAft>
            </a:pPr>
            <a:endParaRPr/>
          </a:p>
          <a:p>
            <a:pPr>
              <a:spcAft>
                <a:spcPts val="200"/>
              </a:spcAft>
              <a:defRPr sz="1100" b="1">
                <a:solidFill>
                  <a:srgbClr val="0284C7"/>
                </a:solidFill>
              </a:defRPr>
            </a:pPr>
            <a:r>
              <a:t>3. CƠ CHẾ NHẬN DIỆN NGOẠI TUYẾN (OFFLINE TIMEOUT):</a:t>
            </a:r>
          </a:p>
          <a:p>
            <a:pPr>
              <a:spcAft>
                <a:spcPts val="200"/>
              </a:spcAft>
              <a:defRPr sz="1000">
                <a:solidFill>
                  <a:srgbClr val="0F172A"/>
                </a:solidFill>
              </a:defRPr>
            </a:pPr>
            <a:r>
              <a:t>• Ứng dụng chạy bộ đếm kiểm tra định kỳ mỗi 1 giây (Heartbeat loop).</a:t>
            </a:r>
          </a:p>
          <a:p>
            <a:pPr>
              <a:spcAft>
                <a:spcPts val="200"/>
              </a:spcAft>
              <a:defRPr sz="1000">
                <a:solidFill>
                  <a:srgbClr val="0F172A"/>
                </a:solidFill>
              </a:defRPr>
            </a:pPr>
            <a:r>
              <a:t>• Nếu một node không có dữ liệu mới trong 15 giây liên tục (`now - lastDataAt &gt; 15s`), ứng dụng tự động gắn cờ 'Ngoại tuyến' (Offline) để người vận hành phát hiện sự cố đứt kết nối tại nút.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10</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KẾT QUẢ TRIỂN KHAI &amp; KIỂM THỬ CHỨC NĂNG</a:t>
            </a:r>
          </a:p>
          <a:p>
            <a:pPr>
              <a:defRPr sz="1150">
                <a:solidFill>
                  <a:srgbClr val="94A3B8"/>
                </a:solidFill>
              </a:defRPr>
            </a:pPr>
            <a:r>
              <a:t>Bộ giả lập đa node và kết quả kiểm thử logic 16 kịch bản chuyên sâu</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11 / 16</a:t>
            </a:r>
          </a:p>
        </p:txBody>
      </p:sp>
      <p:sp>
        <p:nvSpPr>
          <p:cNvPr id="7" name="Rounded Rectangle 6"/>
          <p:cNvSpPr/>
          <p:nvPr/>
        </p:nvSpPr>
        <p:spPr>
          <a:xfrm>
            <a:off x="548640" y="1280160"/>
            <a:ext cx="54864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4864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212080" cy="320040"/>
          </a:xfrm>
          <a:prstGeom prst="rect">
            <a:avLst/>
          </a:prstGeom>
          <a:noFill/>
        </p:spPr>
        <p:txBody>
          <a:bodyPr wrap="none" anchor="ctr">
            <a:spAutoFit/>
          </a:bodyPr>
          <a:lstStyle/>
          <a:p>
            <a:pPr>
              <a:defRPr sz="1250" b="1">
                <a:solidFill>
                  <a:srgbClr val="0F172A"/>
                </a:solidFill>
              </a:defRPr>
            </a:pPr>
            <a:r>
              <a:t>PHẠM VI KIỂM THỬ LOGIC (HÌNH 4.1)</a:t>
            </a:r>
          </a:p>
        </p:txBody>
      </p:sp>
      <p:pic>
        <p:nvPicPr>
          <p:cNvPr id="11" name="Picture 10" descr="doc1_image9.png"/>
          <p:cNvPicPr>
            <a:picLocks noChangeAspect="1"/>
          </p:cNvPicPr>
          <p:nvPr/>
        </p:nvPicPr>
        <p:blipFill>
          <a:blip r:embed="rId2"/>
          <a:stretch>
            <a:fillRect/>
          </a:stretch>
        </p:blipFill>
        <p:spPr>
          <a:xfrm>
            <a:off x="731520" y="2713939"/>
            <a:ext cx="5120640" cy="2253081"/>
          </a:xfrm>
          <a:prstGeom prst="rect">
            <a:avLst/>
          </a:prstGeom>
        </p:spPr>
      </p:pic>
      <p:sp>
        <p:nvSpPr>
          <p:cNvPr id="12" name="TextBox 11"/>
          <p:cNvSpPr txBox="1"/>
          <p:nvPr/>
        </p:nvSpPr>
        <p:spPr>
          <a:xfrm>
            <a:off x="731520" y="5916168"/>
            <a:ext cx="5120640" cy="320040"/>
          </a:xfrm>
          <a:prstGeom prst="rect">
            <a:avLst/>
          </a:prstGeom>
          <a:noFill/>
        </p:spPr>
        <p:txBody>
          <a:bodyPr wrap="square" lIns="0" tIns="0" rIns="0" bIns="0">
            <a:spAutoFit/>
          </a:bodyPr>
          <a:lstStyle/>
          <a:p>
            <a:pPr algn="ctr">
              <a:defRPr sz="950" i="1">
                <a:solidFill>
                  <a:srgbClr val="475569"/>
                </a:solidFill>
              </a:defRPr>
            </a:pPr>
            <a:r>
              <a:t>Hình 4.1: Phạm vi kiểm tra giữa MqttService, Zustand Store và FirebaseService</a:t>
            </a:r>
          </a:p>
        </p:txBody>
      </p:sp>
      <p:sp>
        <p:nvSpPr>
          <p:cNvPr id="13" name="Rounded Rectangle 12"/>
          <p:cNvSpPr/>
          <p:nvPr/>
        </p:nvSpPr>
        <p:spPr>
          <a:xfrm>
            <a:off x="621792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1316736"/>
            <a:ext cx="5120640" cy="320040"/>
          </a:xfrm>
          <a:prstGeom prst="rect">
            <a:avLst/>
          </a:prstGeom>
          <a:noFill/>
        </p:spPr>
        <p:txBody>
          <a:bodyPr wrap="none" anchor="ctr">
            <a:spAutoFit/>
          </a:bodyPr>
          <a:lstStyle/>
          <a:p>
            <a:pPr>
              <a:defRPr sz="1250" b="1">
                <a:solidFill>
                  <a:srgbClr val="0F172A"/>
                </a:solidFill>
              </a:defRPr>
            </a:pPr>
            <a:r>
              <a:t>MA TRẬN KIỂM THỬ LOGIC (16 TEST CASES)</a:t>
            </a:r>
          </a:p>
        </p:txBody>
      </p:sp>
      <p:sp>
        <p:nvSpPr>
          <p:cNvPr id="17" name="TextBox 16"/>
          <p:cNvSpPr txBox="1"/>
          <p:nvPr/>
        </p:nvSpPr>
        <p:spPr>
          <a:xfrm>
            <a:off x="6400800" y="1737360"/>
            <a:ext cx="5029200" cy="4663440"/>
          </a:xfrm>
          <a:prstGeom prst="rect">
            <a:avLst/>
          </a:prstGeom>
          <a:noFill/>
        </p:spPr>
        <p:txBody>
          <a:bodyPr wrap="square">
            <a:spAutoFit/>
          </a:bodyPr>
          <a:lstStyle/>
          <a:p>
            <a:pPr>
              <a:spcAft>
                <a:spcPts val="200"/>
              </a:spcAft>
              <a:defRPr sz="1100" b="1">
                <a:solidFill>
                  <a:srgbClr val="0284C7"/>
                </a:solidFill>
              </a:defRPr>
            </a:pPr>
            <a:r>
              <a:t>1. BỘ GIẢ LẬP ĐA NODE (simulate_nodes.js):</a:t>
            </a:r>
          </a:p>
          <a:p>
            <a:pPr>
              <a:spcAft>
                <a:spcPts val="300"/>
              </a:spcAft>
              <a:defRPr sz="1000">
                <a:solidFill>
                  <a:srgbClr val="0F172A"/>
                </a:solidFill>
              </a:defRPr>
            </a:pPr>
            <a:r>
              <a:t>• Khởi chạy Node ID 2 và Node ID 3 phát dữ liệu định kỳ 2 giây/lần.</a:t>
            </a:r>
          </a:p>
          <a:p>
            <a:pPr>
              <a:spcAft>
                <a:spcPts val="300"/>
              </a:spcAft>
              <a:defRPr sz="1000">
                <a:solidFill>
                  <a:srgbClr val="0F172A"/>
                </a:solidFill>
              </a:defRPr>
            </a:pPr>
            <a:r>
              <a:t>• Hỗ trợ phím tắt mô phỏng sự cố: Ép nhiệt độ lên 45°C hoặc khí gas &gt; 700 ADC.</a:t>
            </a:r>
          </a:p>
          <a:p>
            <a:pPr>
              <a:spcAft>
                <a:spcPts val="400"/>
              </a:spcAft>
            </a:pPr>
            <a:endParaRPr/>
          </a:p>
          <a:p>
            <a:pPr>
              <a:spcAft>
                <a:spcPts val="200"/>
              </a:spcAft>
              <a:defRPr sz="1100" b="1">
                <a:solidFill>
                  <a:srgbClr val="0284C7"/>
                </a:solidFill>
              </a:defRPr>
            </a:pPr>
            <a:r>
              <a:t>2. KẾT QUẢ 16 TRƯỜNG HỢP KIỂM THỬ CHUYÊN SÂU:</a:t>
            </a:r>
          </a:p>
          <a:p>
            <a:pPr>
              <a:spcAft>
                <a:spcPts val="300"/>
              </a:spcAft>
              <a:defRPr sz="1000">
                <a:solidFill>
                  <a:srgbClr val="0F172A"/>
                </a:solidFill>
              </a:defRPr>
            </a:pPr>
            <a:r>
              <a:t>• KT01 - KT04 (Xử lý bản tin MQTT): Parse chính xác định dạng JSON ngắn và dài; tự động suy Node ID từ topic khi payload bị khuyết trường `id`.</a:t>
            </a:r>
          </a:p>
          <a:p>
            <a:pPr>
              <a:spcAft>
                <a:spcPts val="300"/>
              </a:spcAft>
              <a:defRPr sz="1000">
                <a:solidFill>
                  <a:srgbClr val="0F172A"/>
                </a:solidFill>
              </a:defRPr>
            </a:pPr>
            <a:r>
              <a:t>• KT05 - KT09 (Quản lý trạng thái Node Store): Lưu trữ độc lập dữ liệu giữa các node; chuyển đổi node mượt mà; nhận diện node ngoại tuyến sau đúng 15 giây.</a:t>
            </a:r>
          </a:p>
          <a:p>
            <a:pPr>
              <a:spcAft>
                <a:spcPts val="300"/>
              </a:spcAft>
              <a:defRPr sz="1000">
                <a:solidFill>
                  <a:srgbClr val="0F172A"/>
                </a:solidFill>
              </a:defRPr>
            </a:pPr>
            <a:r>
              <a:t>• KT10 - KT13 (Lệnh điều khiển Relay &amp; Ngưỡng): Lệnh set_relay sử dụng trạng thái đích (không đảo trạng thái toggle); chặn gửi lệnh an toàn khi MQTT bị ngắt kết nối.</a:t>
            </a:r>
          </a:p>
          <a:p>
            <a:pPr>
              <a:spcAft>
                <a:spcPts val="300"/>
              </a:spcAft>
              <a:defRPr sz="1000">
                <a:solidFill>
                  <a:srgbClr val="0F172A"/>
                </a:solidFill>
              </a:defRPr>
            </a:pPr>
            <a:r>
              <a:t>• KT14 - KT16 (Ghi dữ liệu Cloud Firestore): Cơ chế giới hạn 30s hoạt động chuẩn xác; xử lý ngoại lệ try/catch an toàn không làm crash ứng dụng.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11</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ĐÁNH GIÁ HỆ THỐNG FACTORYMONITOR</a:t>
            </a:r>
          </a:p>
          <a:p>
            <a:pPr>
              <a:defRPr sz="1150">
                <a:solidFill>
                  <a:srgbClr val="94A3B8"/>
                </a:solidFill>
              </a:defRPr>
            </a:pPr>
            <a:r>
              <a:t>Phân tích ưu điểm nổi bật, hạn chế kỹ thuật và giải pháp tối ưu hóa</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12 / 16</a:t>
            </a:r>
          </a:p>
        </p:txBody>
      </p:sp>
      <p:sp>
        <p:nvSpPr>
          <p:cNvPr id="7" name="Rounded Rectangle 6"/>
          <p:cNvSpPr/>
          <p:nvPr/>
        </p:nvSpPr>
        <p:spPr>
          <a:xfrm>
            <a:off x="54864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120640" cy="320040"/>
          </a:xfrm>
          <a:prstGeom prst="rect">
            <a:avLst/>
          </a:prstGeom>
          <a:noFill/>
        </p:spPr>
        <p:txBody>
          <a:bodyPr wrap="none" anchor="ctr">
            <a:spAutoFit/>
          </a:bodyPr>
          <a:lstStyle/>
          <a:p>
            <a:pPr>
              <a:defRPr sz="1250" b="1">
                <a:solidFill>
                  <a:srgbClr val="0F172A"/>
                </a:solidFill>
              </a:defRPr>
            </a:pPr>
            <a:r>
              <a:t>ƯU ĐIỂM NỔI BẬT CỦA HỆ THỐNG</a:t>
            </a:r>
          </a:p>
        </p:txBody>
      </p:sp>
      <p:sp>
        <p:nvSpPr>
          <p:cNvPr id="11" name="TextBox 10"/>
          <p:cNvSpPr txBox="1"/>
          <p:nvPr/>
        </p:nvSpPr>
        <p:spPr>
          <a:xfrm>
            <a:off x="731520" y="1737360"/>
            <a:ext cx="5029200" cy="4572000"/>
          </a:xfrm>
          <a:prstGeom prst="rect">
            <a:avLst/>
          </a:prstGeom>
          <a:noFill/>
        </p:spPr>
        <p:txBody>
          <a:bodyPr wrap="square">
            <a:spAutoFit/>
          </a:bodyPr>
          <a:lstStyle/>
          <a:p>
            <a:pPr>
              <a:spcAft>
                <a:spcPts val="200"/>
              </a:spcAft>
              <a:defRPr sz="1100" b="1">
                <a:solidFill>
                  <a:srgbClr val="10B981"/>
                </a:solidFill>
              </a:defRPr>
            </a:pPr>
            <a:r>
              <a:t>1. Phân tách kiến trúc rõ ràng:</a:t>
            </a:r>
          </a:p>
          <a:p>
            <a:pPr>
              <a:spcAft>
                <a:spcPts val="200"/>
              </a:spcAft>
              <a:defRPr sz="1000">
                <a:solidFill>
                  <a:srgbClr val="0F172A"/>
                </a:solidFill>
              </a:defRPr>
            </a:pPr>
            <a:r>
              <a:t>• Tách riêng luồng điều khiển thời gian thực (MQTT) và luồng dữ liệu lịch sử (Firebase), loại bỏ tình trạng nghẽn cổ chai khi lưu lượng lớn.</a:t>
            </a:r>
          </a:p>
          <a:p>
            <a:pPr>
              <a:spcAft>
                <a:spcPts val="300"/>
              </a:spcAft>
            </a:pPr>
            <a:endParaRPr/>
          </a:p>
          <a:p>
            <a:pPr>
              <a:spcAft>
                <a:spcPts val="200"/>
              </a:spcAft>
              <a:defRPr sz="1100" b="1">
                <a:solidFill>
                  <a:srgbClr val="10B981"/>
                </a:solidFill>
              </a:defRPr>
            </a:pPr>
            <a:r>
              <a:t>2. Đảm bảo an toàn cục bộ (Fail-safe):</a:t>
            </a:r>
          </a:p>
          <a:p>
            <a:pPr>
              <a:spcAft>
                <a:spcPts val="200"/>
              </a:spcAft>
              <a:defRPr sz="1000">
                <a:solidFill>
                  <a:srgbClr val="0F172A"/>
                </a:solidFill>
              </a:defRPr>
            </a:pPr>
            <a:r>
              <a:t>• Thuật toán kiểm tra ngưỡng và tự ngắt relay thực thi độc lập trong firmware ESP32, bảo vệ nhà xưởng ngay cả khi mất mạng hoặc app tắt.</a:t>
            </a:r>
          </a:p>
          <a:p>
            <a:pPr>
              <a:spcAft>
                <a:spcPts val="300"/>
              </a:spcAft>
            </a:pPr>
            <a:endParaRPr/>
          </a:p>
          <a:p>
            <a:pPr>
              <a:spcAft>
                <a:spcPts val="200"/>
              </a:spcAft>
              <a:defRPr sz="1100" b="1">
                <a:solidFill>
                  <a:srgbClr val="10B981"/>
                </a:solidFill>
              </a:defRPr>
            </a:pPr>
            <a:r>
              <a:t>3. Trải nghiệm người dùng thuận tiện:</a:t>
            </a:r>
          </a:p>
          <a:p>
            <a:pPr>
              <a:spcAft>
                <a:spcPts val="200"/>
              </a:spcAft>
              <a:defRPr sz="1000">
                <a:solidFill>
                  <a:srgbClr val="0F172A"/>
                </a:solidFill>
              </a:defRPr>
            </a:pPr>
            <a:r>
              <a:t>• Theo dõi trực quan nhiều vị trí nhà xưởng trên một giao diện; hỗ trợ quét mã QR ghép node mới cực kỳ nhanh chóng.</a:t>
            </a:r>
          </a:p>
          <a:p>
            <a:pPr>
              <a:spcAft>
                <a:spcPts val="300"/>
              </a:spcAft>
            </a:pPr>
            <a:endParaRPr/>
          </a:p>
          <a:p>
            <a:pPr>
              <a:spcAft>
                <a:spcPts val="200"/>
              </a:spcAft>
              <a:defRPr sz="1100" b="1">
                <a:solidFill>
                  <a:srgbClr val="10B981"/>
                </a:solidFill>
              </a:defRPr>
            </a:pPr>
            <a:r>
              <a:t>4. Tối ưu chi phí hạ tầng:</a:t>
            </a:r>
          </a:p>
          <a:p>
            <a:pPr>
              <a:spcAft>
                <a:spcPts val="200"/>
              </a:spcAft>
              <a:defRPr sz="1000">
                <a:solidFill>
                  <a:srgbClr val="0F172A"/>
                </a:solidFill>
              </a:defRPr>
            </a:pPr>
            <a:r>
              <a:t>• Cơ chế lọc ghi 30s/lần giúp hệ thống vận hành hoàn toàn miễn phí trên gói Firebase Spark Plan.</a:t>
            </a:r>
          </a:p>
        </p:txBody>
      </p:sp>
      <p:sp>
        <p:nvSpPr>
          <p:cNvPr id="12" name="Rounded Rectangle 11"/>
          <p:cNvSpPr/>
          <p:nvPr/>
        </p:nvSpPr>
        <p:spPr>
          <a:xfrm>
            <a:off x="621792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280160"/>
            <a:ext cx="91440" cy="384048"/>
          </a:xfrm>
          <a:prstGeom prst="rect">
            <a:avLst/>
          </a:prstGeom>
          <a:solidFill>
            <a:srgbClr val="E11D48"/>
          </a:solidFill>
          <a:ln>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316736"/>
            <a:ext cx="5120640" cy="320040"/>
          </a:xfrm>
          <a:prstGeom prst="rect">
            <a:avLst/>
          </a:prstGeom>
          <a:noFill/>
        </p:spPr>
        <p:txBody>
          <a:bodyPr wrap="none" anchor="ctr">
            <a:spAutoFit/>
          </a:bodyPr>
          <a:lstStyle/>
          <a:p>
            <a:pPr>
              <a:defRPr sz="1250" b="1">
                <a:solidFill>
                  <a:srgbClr val="0F172A"/>
                </a:solidFill>
              </a:defRPr>
            </a:pPr>
            <a:r>
              <a:t>HẠN CHẾ &amp; THÁCH THỨC CẦN HOÀN THIỆN</a:t>
            </a:r>
          </a:p>
        </p:txBody>
      </p:sp>
      <p:sp>
        <p:nvSpPr>
          <p:cNvPr id="16" name="TextBox 15"/>
          <p:cNvSpPr txBox="1"/>
          <p:nvPr/>
        </p:nvSpPr>
        <p:spPr>
          <a:xfrm>
            <a:off x="6400800" y="1737360"/>
            <a:ext cx="5029200" cy="4572000"/>
          </a:xfrm>
          <a:prstGeom prst="rect">
            <a:avLst/>
          </a:prstGeom>
          <a:noFill/>
        </p:spPr>
        <p:txBody>
          <a:bodyPr wrap="square">
            <a:spAutoFit/>
          </a:bodyPr>
          <a:lstStyle/>
          <a:p>
            <a:pPr>
              <a:spcAft>
                <a:spcPts val="200"/>
              </a:spcAft>
              <a:defRPr sz="1100" b="1">
                <a:solidFill>
                  <a:srgbClr val="E11D48"/>
                </a:solidFill>
              </a:defRPr>
            </a:pPr>
            <a:r>
              <a:t>1. Cảm biến MQ-2 chưa hiệu chuẩn nồng độ thực tế:</a:t>
            </a:r>
          </a:p>
          <a:p>
            <a:pPr>
              <a:spcAft>
                <a:spcPts val="200"/>
              </a:spcAft>
              <a:defRPr sz="1000">
                <a:solidFill>
                  <a:srgbClr val="0F172A"/>
                </a:solidFill>
              </a:defRPr>
            </a:pPr>
            <a:r>
              <a:t>• Dữ liệu hiện tại là giá trị điện áp ADC (0-4095), chưa được quy đổi ra nồng độ ppm chuẩn của từng loại khí gas mục tiêu.</a:t>
            </a:r>
          </a:p>
          <a:p>
            <a:pPr>
              <a:spcAft>
                <a:spcPts val="300"/>
              </a:spcAft>
            </a:pPr>
            <a:endParaRPr/>
          </a:p>
          <a:p>
            <a:pPr>
              <a:spcAft>
                <a:spcPts val="200"/>
              </a:spcAft>
              <a:defRPr sz="1100" b="1">
                <a:solidFill>
                  <a:srgbClr val="E11D48"/>
                </a:solidFill>
              </a:defRPr>
            </a:pPr>
            <a:r>
              <a:t>2. Bảo mật truyền thông MQTT Broker:</a:t>
            </a:r>
          </a:p>
          <a:p>
            <a:pPr>
              <a:spcAft>
                <a:spcPts val="200"/>
              </a:spcAft>
              <a:defRPr sz="1000">
                <a:solidFill>
                  <a:srgbClr val="0F172A"/>
                </a:solidFill>
              </a:defRPr>
            </a:pPr>
            <a:r>
              <a:t>• Bản thử nghiệm đang sử dụng broker công cộng qua WebSocket chưa mã hóa TLS và chưa yêu cầu xác thực Username/Password.</a:t>
            </a:r>
          </a:p>
          <a:p>
            <a:pPr>
              <a:spcAft>
                <a:spcPts val="300"/>
              </a:spcAft>
            </a:pPr>
            <a:endParaRPr/>
          </a:p>
          <a:p>
            <a:pPr>
              <a:spcAft>
                <a:spcPts val="200"/>
              </a:spcAft>
              <a:defRPr sz="1100" b="1">
                <a:solidFill>
                  <a:srgbClr val="E11D48"/>
                </a:solidFill>
              </a:defRPr>
            </a:pPr>
            <a:r>
              <a:t>3. Cơ chế xác nhận lệnh (Feedback Handshake):</a:t>
            </a:r>
          </a:p>
          <a:p>
            <a:pPr>
              <a:spcAft>
                <a:spcPts val="200"/>
              </a:spcAft>
              <a:defRPr sz="1000">
                <a:solidFill>
                  <a:srgbClr val="0F172A"/>
                </a:solidFill>
              </a:defRPr>
            </a:pPr>
            <a:r>
              <a:t>• Cần bổ sung phản hồi trạng thái thực tế (Hardware ACK) từ ESP32 sau khi relay đã đóng/ngắt tiếp điểm vật lý.</a:t>
            </a:r>
          </a:p>
          <a:p>
            <a:pPr>
              <a:spcAft>
                <a:spcPts val="300"/>
              </a:spcAft>
            </a:pPr>
            <a:endParaRPr/>
          </a:p>
          <a:p>
            <a:pPr>
              <a:spcAft>
                <a:spcPts val="200"/>
              </a:spcAft>
              <a:defRPr sz="1100" b="1">
                <a:solidFill>
                  <a:srgbClr val="E11D48"/>
                </a:solidFill>
              </a:defRPr>
            </a:pPr>
            <a:r>
              <a:t>4. Thông báo đẩy khi ứng dụng đóng hoàn toàn:</a:t>
            </a:r>
          </a:p>
          <a:p>
            <a:pPr>
              <a:spcAft>
                <a:spcPts val="200"/>
              </a:spcAft>
              <a:defRPr sz="1000">
                <a:solidFill>
                  <a:srgbClr val="0F172A"/>
                </a:solidFill>
              </a:defRPr>
            </a:pPr>
            <a:r>
              <a:t>• Cần tích hợp Firebase Cloud Messaging (FCM) để gửi cảnh báo khi người dùng tắt hẳn ứng dụng trên điện thoại.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1280160" cy="32004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CHỦ ĐỀ 12</a:t>
            </a:r>
          </a:p>
        </p:txBody>
      </p:sp>
      <p:sp>
        <p:nvSpPr>
          <p:cNvPr id="5" name="TextBox 4"/>
          <p:cNvSpPr txBox="1"/>
          <p:nvPr/>
        </p:nvSpPr>
        <p:spPr>
          <a:xfrm>
            <a:off x="2057400" y="109728"/>
            <a:ext cx="9144000" cy="868680"/>
          </a:xfrm>
          <a:prstGeom prst="rect">
            <a:avLst/>
          </a:prstGeom>
          <a:noFill/>
        </p:spPr>
        <p:txBody>
          <a:bodyPr wrap="square" lIns="0" tIns="0" rIns="0" bIns="0">
            <a:spAutoFit/>
          </a:bodyPr>
          <a:lstStyle/>
          <a:p>
            <a:pPr>
              <a:defRPr sz="1900" b="1">
                <a:solidFill>
                  <a:srgbClr val="FFFFFF"/>
                </a:solidFill>
              </a:defRPr>
            </a:pPr>
            <a:r>
              <a:t>KẾT LUẬN &amp; HƯỚNG PHÁT TRIỂN</a:t>
            </a:r>
          </a:p>
          <a:p>
            <a:pPr>
              <a:defRPr sz="1150">
                <a:solidFill>
                  <a:srgbClr val="94A3B8"/>
                </a:solidFill>
              </a:defRPr>
            </a:pPr>
            <a:r>
              <a:t>Tổng kết đề tài FactoryMonitor và lộ trình phát triển nâng cấp sản phẩm</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13 / 16</a:t>
            </a:r>
          </a:p>
        </p:txBody>
      </p:sp>
      <p:sp>
        <p:nvSpPr>
          <p:cNvPr id="7" name="Rounded Rectangle 6"/>
          <p:cNvSpPr/>
          <p:nvPr/>
        </p:nvSpPr>
        <p:spPr>
          <a:xfrm>
            <a:off x="54864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120640" cy="320040"/>
          </a:xfrm>
          <a:prstGeom prst="rect">
            <a:avLst/>
          </a:prstGeom>
          <a:noFill/>
        </p:spPr>
        <p:txBody>
          <a:bodyPr wrap="none" anchor="ctr">
            <a:spAutoFit/>
          </a:bodyPr>
          <a:lstStyle/>
          <a:p>
            <a:pPr>
              <a:defRPr sz="1250" b="1">
                <a:solidFill>
                  <a:srgbClr val="0F172A"/>
                </a:solidFill>
              </a:defRPr>
            </a:pPr>
            <a:r>
              <a:t>KẾT LUẬN ĐẠT ĐƯỢC CỦA ĐỀ TÀI</a:t>
            </a:r>
          </a:p>
        </p:txBody>
      </p:sp>
      <p:sp>
        <p:nvSpPr>
          <p:cNvPr id="11" name="TextBox 10"/>
          <p:cNvSpPr txBox="1"/>
          <p:nvPr/>
        </p:nvSpPr>
        <p:spPr>
          <a:xfrm>
            <a:off x="731520" y="1737360"/>
            <a:ext cx="5029200" cy="4572000"/>
          </a:xfrm>
          <a:prstGeom prst="rect">
            <a:avLst/>
          </a:prstGeom>
          <a:noFill/>
        </p:spPr>
        <p:txBody>
          <a:bodyPr wrap="square">
            <a:spAutoFit/>
          </a:bodyPr>
          <a:lstStyle/>
          <a:p>
            <a:pPr>
              <a:spcAft>
                <a:spcPts val="200"/>
              </a:spcAft>
              <a:defRPr sz="1100" b="1">
                <a:solidFill>
                  <a:srgbClr val="0284C7"/>
                </a:solidFill>
              </a:defRPr>
            </a:pPr>
            <a:r>
              <a:t>1. Hoàn thiện hệ sinh thái IoT giám sát:</a:t>
            </a:r>
          </a:p>
          <a:p>
            <a:pPr>
              <a:spcAft>
                <a:spcPts val="200"/>
              </a:spcAft>
              <a:defRPr sz="1000">
                <a:solidFill>
                  <a:srgbClr val="0F172A"/>
                </a:solidFill>
              </a:defRPr>
            </a:pPr>
            <a:r>
              <a:t>• Xây dựng thành công ứng dụng di động FactoryMonitor kết nối các nút nhúng ESP32 qua Wi-Fi, MQTT và Firebase.</a:t>
            </a:r>
          </a:p>
          <a:p>
            <a:pPr>
              <a:spcAft>
                <a:spcPts val="300"/>
              </a:spcAft>
            </a:pPr>
            <a:endParaRPr/>
          </a:p>
          <a:p>
            <a:pPr>
              <a:spcAft>
                <a:spcPts val="200"/>
              </a:spcAft>
              <a:defRPr sz="1100" b="1">
                <a:solidFill>
                  <a:srgbClr val="0284C7"/>
                </a:solidFill>
              </a:defRPr>
            </a:pPr>
            <a:r>
              <a:t>2. Làm chủ giao thức điều khiển thời gian thực:</a:t>
            </a:r>
          </a:p>
          <a:p>
            <a:pPr>
              <a:spcAft>
                <a:spcPts val="200"/>
              </a:spcAft>
              <a:defRPr sz="1000">
                <a:solidFill>
                  <a:srgbClr val="0F172A"/>
                </a:solidFill>
              </a:defRPr>
            </a:pPr>
            <a:r>
              <a:t>• Hiện thực hóa cơ chế truyền thông MQTT hai chiều với độ trễ thấp (&lt; 500ms), bảo đảm đồng bộ trạng thái giữa phần cứng và ứng dụng.</a:t>
            </a:r>
          </a:p>
          <a:p>
            <a:pPr>
              <a:spcAft>
                <a:spcPts val="300"/>
              </a:spcAft>
            </a:pPr>
            <a:endParaRPr/>
          </a:p>
          <a:p>
            <a:pPr>
              <a:spcAft>
                <a:spcPts val="200"/>
              </a:spcAft>
              <a:defRPr sz="1100" b="1">
                <a:solidFill>
                  <a:srgbClr val="0284C7"/>
                </a:solidFill>
              </a:defRPr>
            </a:pPr>
            <a:r>
              <a:t>3. Quản lý dữ liệu đám mây thông minh:</a:t>
            </a:r>
          </a:p>
          <a:p>
            <a:pPr>
              <a:spcAft>
                <a:spcPts val="200"/>
              </a:spcAft>
              <a:defRPr sz="1000">
                <a:solidFill>
                  <a:srgbClr val="0F172A"/>
                </a:solidFill>
              </a:defRPr>
            </a:pPr>
            <a:r>
              <a:t>• Triển khai cơ chế xác thực người dùng và lưu trữ dữ liệu lịch sử NoSQL trên Cloud Firestore có điều tiết chu kỳ 30s.</a:t>
            </a:r>
          </a:p>
          <a:p>
            <a:pPr>
              <a:spcAft>
                <a:spcPts val="300"/>
              </a:spcAft>
            </a:pPr>
            <a:endParaRPr/>
          </a:p>
          <a:p>
            <a:pPr>
              <a:spcAft>
                <a:spcPts val="200"/>
              </a:spcAft>
              <a:defRPr sz="1100" b="1">
                <a:solidFill>
                  <a:srgbClr val="0284C7"/>
                </a:solidFill>
              </a:defRPr>
            </a:pPr>
            <a:r>
              <a:t>4. Kiểm chứng hệ thống toàn diện:</a:t>
            </a:r>
          </a:p>
          <a:p>
            <a:pPr>
              <a:spcAft>
                <a:spcPts val="200"/>
              </a:spcAft>
              <a:defRPr sz="1000">
                <a:solidFill>
                  <a:srgbClr val="0F172A"/>
                </a:solidFill>
              </a:defRPr>
            </a:pPr>
            <a:r>
              <a:t>• Hoàn thành bộ giả lập đa nút độc lập và kiểm thử logic 16 kịch bản đạt tỷ lệ chính xác tuyệt đối 100%.</a:t>
            </a:r>
          </a:p>
        </p:txBody>
      </p:sp>
      <p:sp>
        <p:nvSpPr>
          <p:cNvPr id="12" name="Rounded Rectangle 11"/>
          <p:cNvSpPr/>
          <p:nvPr/>
        </p:nvSpPr>
        <p:spPr>
          <a:xfrm>
            <a:off x="621792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17920" y="1280160"/>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1316736"/>
            <a:ext cx="5120640" cy="320040"/>
          </a:xfrm>
          <a:prstGeom prst="rect">
            <a:avLst/>
          </a:prstGeom>
          <a:noFill/>
        </p:spPr>
        <p:txBody>
          <a:bodyPr wrap="none" anchor="ctr">
            <a:spAutoFit/>
          </a:bodyPr>
          <a:lstStyle/>
          <a:p>
            <a:pPr>
              <a:defRPr sz="1250" b="1">
                <a:solidFill>
                  <a:srgbClr val="0F172A"/>
                </a:solidFill>
              </a:defRPr>
            </a:pPr>
            <a:r>
              <a:t>LỘ TRÌNH NÂNG CẤP VÀ PHÁT TRIỂN TIẾP THEO</a:t>
            </a:r>
          </a:p>
        </p:txBody>
      </p:sp>
      <p:sp>
        <p:nvSpPr>
          <p:cNvPr id="16" name="TextBox 15"/>
          <p:cNvSpPr txBox="1"/>
          <p:nvPr/>
        </p:nvSpPr>
        <p:spPr>
          <a:xfrm>
            <a:off x="6400800" y="1737360"/>
            <a:ext cx="5029200" cy="4572000"/>
          </a:xfrm>
          <a:prstGeom prst="rect">
            <a:avLst/>
          </a:prstGeom>
          <a:noFill/>
        </p:spPr>
        <p:txBody>
          <a:bodyPr wrap="square">
            <a:spAutoFit/>
          </a:bodyPr>
          <a:lstStyle/>
          <a:p>
            <a:pPr>
              <a:spcAft>
                <a:spcPts val="200"/>
              </a:spcAft>
              <a:defRPr sz="1100" b="1">
                <a:solidFill>
                  <a:srgbClr val="0369A1"/>
                </a:solidFill>
              </a:defRPr>
            </a:pPr>
            <a:r>
              <a:t>1. Triển khai MQTT Broker riêng (Self-hosted):</a:t>
            </a:r>
          </a:p>
          <a:p>
            <a:pPr>
              <a:spcAft>
                <a:spcPts val="200"/>
              </a:spcAft>
              <a:defRPr sz="1000">
                <a:solidFill>
                  <a:srgbClr val="0F172A"/>
                </a:solidFill>
              </a:defRPr>
            </a:pPr>
            <a:r>
              <a:t>• Cài đặt máy chủ Mosquitto/EMQX riêng tích hợp chứng chỉ SSL/TLS và phân quyền Access Control List (ACL) theo tài khoản.</a:t>
            </a:r>
          </a:p>
          <a:p>
            <a:pPr>
              <a:spcAft>
                <a:spcPts val="300"/>
              </a:spcAft>
            </a:pPr>
            <a:endParaRPr/>
          </a:p>
          <a:p>
            <a:pPr>
              <a:spcAft>
                <a:spcPts val="200"/>
              </a:spcAft>
              <a:defRPr sz="1100" b="1">
                <a:solidFill>
                  <a:srgbClr val="0369A1"/>
                </a:solidFill>
              </a:defRPr>
            </a:pPr>
            <a:r>
              <a:t>2. Hiệu chuẩn cảm biến công nghiệp:</a:t>
            </a:r>
          </a:p>
          <a:p>
            <a:pPr>
              <a:spcAft>
                <a:spcPts val="200"/>
              </a:spcAft>
              <a:defRPr sz="1000">
                <a:solidFill>
                  <a:srgbClr val="0F172A"/>
                </a:solidFill>
              </a:defRPr>
            </a:pPr>
            <a:r>
              <a:t>• Sử dụng bình khí mẫu chuẩn để lập đường cong đặc tuyến điện áp - nồng độ ppm cho cảm biến khí MQ-2.</a:t>
            </a:r>
          </a:p>
          <a:p>
            <a:pPr>
              <a:spcAft>
                <a:spcPts val="300"/>
              </a:spcAft>
            </a:pPr>
            <a:endParaRPr/>
          </a:p>
          <a:p>
            <a:pPr>
              <a:spcAft>
                <a:spcPts val="200"/>
              </a:spcAft>
              <a:defRPr sz="1100" b="1">
                <a:solidFill>
                  <a:srgbClr val="0369A1"/>
                </a:solidFill>
              </a:defRPr>
            </a:pPr>
            <a:r>
              <a:t>3. Cảnh báo đẩy nền (FCM Notification):</a:t>
            </a:r>
          </a:p>
          <a:p>
            <a:pPr>
              <a:spcAft>
                <a:spcPts val="200"/>
              </a:spcAft>
              <a:defRPr sz="1000">
                <a:solidFill>
                  <a:srgbClr val="0F172A"/>
                </a:solidFill>
              </a:defRPr>
            </a:pPr>
            <a:r>
              <a:t>• Tích hợp Firebase Cloud Messaging để gửi thông báo khẩn cấp ngay cả khi màn hình khóa hoặc app đang bị tắt hoàn toàn.</a:t>
            </a:r>
          </a:p>
          <a:p>
            <a:pPr>
              <a:spcAft>
                <a:spcPts val="300"/>
              </a:spcAft>
            </a:pPr>
            <a:endParaRPr/>
          </a:p>
          <a:p>
            <a:pPr>
              <a:spcAft>
                <a:spcPts val="200"/>
              </a:spcAft>
              <a:defRPr sz="1100" b="1">
                <a:solidFill>
                  <a:srgbClr val="0369A1"/>
                </a:solidFill>
              </a:defRPr>
            </a:pPr>
            <a:r>
              <a:t>4. Tối ưu năng lượng cho nút không dây:</a:t>
            </a:r>
          </a:p>
          <a:p>
            <a:pPr>
              <a:spcAft>
                <a:spcPts val="200"/>
              </a:spcAft>
              <a:defRPr sz="1000">
                <a:solidFill>
                  <a:srgbClr val="0F172A"/>
                </a:solidFill>
              </a:defRPr>
            </a:pPr>
            <a:r>
              <a:t>• Bổ sung chế độ Deep Sleep cho ESP32 chạy pin tại những khu vực nhà máy không có sẵn nguồn điện lưới 220V.</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011680" cy="320040"/>
          </a:xfrm>
          <a:prstGeom prst="round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BÀI TẬP NÂNG CAO</a:t>
            </a:r>
          </a:p>
        </p:txBody>
      </p:sp>
      <p:sp>
        <p:nvSpPr>
          <p:cNvPr id="5" name="TextBox 4"/>
          <p:cNvSpPr txBox="1"/>
          <p:nvPr/>
        </p:nvSpPr>
        <p:spPr>
          <a:xfrm>
            <a:off x="2788920" y="109728"/>
            <a:ext cx="9144000" cy="868680"/>
          </a:xfrm>
          <a:prstGeom prst="rect">
            <a:avLst/>
          </a:prstGeom>
          <a:noFill/>
        </p:spPr>
        <p:txBody>
          <a:bodyPr wrap="square" lIns="0" tIns="0" rIns="0" bIns="0">
            <a:spAutoFit/>
          </a:bodyPr>
          <a:lstStyle/>
          <a:p>
            <a:pPr>
              <a:defRPr sz="1900" b="1">
                <a:solidFill>
                  <a:srgbClr val="FFFFFF"/>
                </a:solidFill>
              </a:defRPr>
            </a:pPr>
            <a:r>
              <a:t>MÔ HÌNH AI MOBILEONE-1D NHẬN DIỆN HÀNH VI CON NGƯỜI</a:t>
            </a:r>
          </a:p>
          <a:p>
            <a:pPr>
              <a:defRPr sz="1150">
                <a:solidFill>
                  <a:srgbClr val="94A3B8"/>
                </a:solidFill>
              </a:defRPr>
            </a:pPr>
            <a:r>
              <a:t>Kỹ thuật Tái tham số hóa cấu trúc (Structural Re-parameterization) trên dữ liệu chuỗi thời gian IMU</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14 / 16</a:t>
            </a:r>
          </a:p>
        </p:txBody>
      </p:sp>
      <p:sp>
        <p:nvSpPr>
          <p:cNvPr id="7" name="Rounded Rectangle 6"/>
          <p:cNvSpPr/>
          <p:nvPr/>
        </p:nvSpPr>
        <p:spPr>
          <a:xfrm>
            <a:off x="548640" y="1280160"/>
            <a:ext cx="594360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94360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669280" cy="320040"/>
          </a:xfrm>
          <a:prstGeom prst="rect">
            <a:avLst/>
          </a:prstGeom>
          <a:noFill/>
        </p:spPr>
        <p:txBody>
          <a:bodyPr wrap="none" anchor="ctr">
            <a:spAutoFit/>
          </a:bodyPr>
          <a:lstStyle/>
          <a:p>
            <a:pPr>
              <a:defRPr sz="1250" b="1">
                <a:solidFill>
                  <a:srgbClr val="0F172A"/>
                </a:solidFill>
              </a:defRPr>
            </a:pPr>
            <a:r>
              <a:t>CƠ CHẾ TÁI THAM SỐ HÓA CẤU TRÚC (HÌNH 2.1)</a:t>
            </a:r>
          </a:p>
        </p:txBody>
      </p:sp>
      <p:pic>
        <p:nvPicPr>
          <p:cNvPr id="11" name="Picture 10" descr="doc2_image3.png"/>
          <p:cNvPicPr>
            <a:picLocks noChangeAspect="1"/>
          </p:cNvPicPr>
          <p:nvPr/>
        </p:nvPicPr>
        <p:blipFill>
          <a:blip r:embed="rId2"/>
          <a:stretch>
            <a:fillRect/>
          </a:stretch>
        </p:blipFill>
        <p:spPr>
          <a:xfrm>
            <a:off x="731520" y="2446020"/>
            <a:ext cx="5577840" cy="2788920"/>
          </a:xfrm>
          <a:prstGeom prst="rect">
            <a:avLst/>
          </a:prstGeom>
        </p:spPr>
      </p:pic>
      <p:sp>
        <p:nvSpPr>
          <p:cNvPr id="12" name="TextBox 11"/>
          <p:cNvSpPr txBox="1"/>
          <p:nvPr/>
        </p:nvSpPr>
        <p:spPr>
          <a:xfrm>
            <a:off x="731520" y="5916168"/>
            <a:ext cx="5577840" cy="320040"/>
          </a:xfrm>
          <a:prstGeom prst="rect">
            <a:avLst/>
          </a:prstGeom>
          <a:noFill/>
        </p:spPr>
        <p:txBody>
          <a:bodyPr wrap="square" lIns="0" tIns="0" rIns="0" bIns="0">
            <a:spAutoFit/>
          </a:bodyPr>
          <a:lstStyle/>
          <a:p>
            <a:pPr algn="ctr">
              <a:defRPr sz="950" i="1">
                <a:solidFill>
                  <a:srgbClr val="475569"/>
                </a:solidFill>
              </a:defRPr>
            </a:pPr>
            <a:r>
              <a:t>Hình 2.1: Quá trình gộp đa nhánh BatchNorm về nhánh đơn Conv1D duy nhất</a:t>
            </a:r>
          </a:p>
        </p:txBody>
      </p:sp>
      <p:sp>
        <p:nvSpPr>
          <p:cNvPr id="13" name="Rounded Rectangle 12"/>
          <p:cNvSpPr/>
          <p:nvPr/>
        </p:nvSpPr>
        <p:spPr>
          <a:xfrm>
            <a:off x="6675120" y="1280160"/>
            <a:ext cx="49377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675120" y="1280160"/>
            <a:ext cx="49377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675120" y="1280160"/>
            <a:ext cx="91440" cy="3840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0" y="1316736"/>
            <a:ext cx="4663440" cy="320040"/>
          </a:xfrm>
          <a:prstGeom prst="rect">
            <a:avLst/>
          </a:prstGeom>
          <a:noFill/>
        </p:spPr>
        <p:txBody>
          <a:bodyPr wrap="none" anchor="ctr">
            <a:spAutoFit/>
          </a:bodyPr>
          <a:lstStyle/>
          <a:p>
            <a:pPr>
              <a:defRPr sz="1250" b="1">
                <a:solidFill>
                  <a:srgbClr val="0F172A"/>
                </a:solidFill>
              </a:defRPr>
            </a:pPr>
            <a:r>
              <a:t>NGUYÊN LÝ CÔNG NGHỆ ĐỘT PHÁ</a:t>
            </a:r>
          </a:p>
        </p:txBody>
      </p:sp>
      <p:sp>
        <p:nvSpPr>
          <p:cNvPr id="17" name="TextBox 16"/>
          <p:cNvSpPr txBox="1"/>
          <p:nvPr/>
        </p:nvSpPr>
        <p:spPr>
          <a:xfrm>
            <a:off x="6858000" y="1737360"/>
            <a:ext cx="4572000" cy="4663440"/>
          </a:xfrm>
          <a:prstGeom prst="rect">
            <a:avLst/>
          </a:prstGeom>
          <a:noFill/>
        </p:spPr>
        <p:txBody>
          <a:bodyPr wrap="square">
            <a:spAutoFit/>
          </a:bodyPr>
          <a:lstStyle/>
          <a:p>
            <a:pPr>
              <a:spcAft>
                <a:spcPts val="200"/>
              </a:spcAft>
              <a:defRPr sz="1100" b="1">
                <a:solidFill>
                  <a:srgbClr val="4F46E5"/>
                </a:solidFill>
              </a:defRPr>
            </a:pPr>
            <a:r>
              <a:t>1. BÀI TOÁN NHẬN DIỆN HÀNH VI (HAR):</a:t>
            </a:r>
          </a:p>
          <a:p>
            <a:pPr>
              <a:spcAft>
                <a:spcPts val="200"/>
              </a:spcAft>
              <a:defRPr sz="1000">
                <a:solidFill>
                  <a:srgbClr val="0F172A"/>
                </a:solidFill>
              </a:defRPr>
            </a:pPr>
            <a:r>
              <a:t>• Thu thập dữ liệu từ cảm biến quán tính IMU 9 kênh (Gia tốc cơ thể, Trọng trường, Con quay hồi chuyển) trên bộ dữ liệu chuẩn quốc tế UCI-HAR.</a:t>
            </a:r>
          </a:p>
          <a:p>
            <a:pPr>
              <a:spcAft>
                <a:spcPts val="200"/>
              </a:spcAft>
              <a:defRPr sz="1000">
                <a:solidFill>
                  <a:srgbClr val="0F172A"/>
                </a:solidFill>
              </a:defRPr>
            </a:pPr>
            <a:r>
              <a:t>• Phân loại 6 hành vi con người: Đi bộ (Walking), Đi lên lầu (Walking_Up), Đi xuống lầu (Walking_Down), Ngồi (Sitting), Đứng (Standing), Nằm (Laying).</a:t>
            </a:r>
          </a:p>
          <a:p>
            <a:pPr>
              <a:spcAft>
                <a:spcPts val="400"/>
              </a:spcAft>
            </a:pPr>
            <a:endParaRPr/>
          </a:p>
          <a:p>
            <a:pPr>
              <a:spcAft>
                <a:spcPts val="200"/>
              </a:spcAft>
              <a:defRPr sz="1100" b="1">
                <a:solidFill>
                  <a:srgbClr val="4F46E5"/>
                </a:solidFill>
              </a:defRPr>
            </a:pPr>
            <a:r>
              <a:t>2. ĐỘT PHÁ TÁI THAM SỐ HÓA CẤU TRÚC (RE-PARAM):</a:t>
            </a:r>
          </a:p>
          <a:p>
            <a:pPr>
              <a:spcAft>
                <a:spcPts val="200"/>
              </a:spcAft>
              <a:defRPr sz="1000">
                <a:solidFill>
                  <a:srgbClr val="0F172A"/>
                </a:solidFill>
              </a:defRPr>
            </a:pPr>
            <a:r>
              <a:t>• Pha huấn luyện (Training): Mô hình học với cấu trúc đa nhánh song song gồm Conv1D, Identity và Batch Normalization giúp tối ưu hóa gradient và đạt độ chính xác cao.</a:t>
            </a:r>
          </a:p>
          <a:p>
            <a:pPr>
              <a:spcAft>
                <a:spcPts val="200"/>
              </a:spcAft>
              <a:defRPr sz="1000">
                <a:solidFill>
                  <a:srgbClr val="0F172A"/>
                </a:solidFill>
              </a:defRPr>
            </a:pPr>
            <a:r>
              <a:t>• Pha suy diễn (Inference): Toàn bộ các nhánh được gộp toán học về một nhánh tích chập duy nhất theo công thức:</a:t>
            </a:r>
          </a:p>
          <a:p>
            <a:pPr>
              <a:spcAft>
                <a:spcPts val="200"/>
              </a:spcAft>
              <a:defRPr sz="1000" b="1">
                <a:solidFill>
                  <a:srgbClr val="0369A1"/>
                </a:solidFill>
              </a:defRPr>
            </a:pPr>
            <a:r>
              <a:t>    W_fused = W · [ γ / √(σ² + ε) ]</a:t>
            </a:r>
          </a:p>
          <a:p>
            <a:pPr>
              <a:spcAft>
                <a:spcPts val="200"/>
              </a:spcAft>
              <a:defRPr sz="1000" b="1">
                <a:solidFill>
                  <a:srgbClr val="0369A1"/>
                </a:solidFill>
              </a:defRPr>
            </a:pPr>
            <a:r>
              <a:t>    b_fused = (b - μ) · [ γ / √(σ² + ε) ] + β</a:t>
            </a:r>
          </a:p>
          <a:p>
            <a:pPr>
              <a:spcAft>
                <a:spcPts val="200"/>
              </a:spcAft>
              <a:defRPr sz="1000">
                <a:solidFill>
                  <a:srgbClr val="0F172A"/>
                </a:solidFill>
              </a:defRPr>
            </a:pPr>
            <a:r>
              <a:t>• Loại bỏ hoàn toàn độ trễ phân nhánh, xuất 52,918 tham số sang tệp tiêu đề C/C++ weights.h để nạp vào phần cứng FPGA!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011680" cy="320040"/>
          </a:xfrm>
          <a:prstGeom prst="round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BÀI TẬP NÂNG CAO</a:t>
            </a:r>
          </a:p>
        </p:txBody>
      </p:sp>
      <p:sp>
        <p:nvSpPr>
          <p:cNvPr id="5" name="TextBox 4"/>
          <p:cNvSpPr txBox="1"/>
          <p:nvPr/>
        </p:nvSpPr>
        <p:spPr>
          <a:xfrm>
            <a:off x="2788920" y="109728"/>
            <a:ext cx="9144000" cy="868680"/>
          </a:xfrm>
          <a:prstGeom prst="rect">
            <a:avLst/>
          </a:prstGeom>
          <a:noFill/>
        </p:spPr>
        <p:txBody>
          <a:bodyPr wrap="square" lIns="0" tIns="0" rIns="0" bIns="0">
            <a:spAutoFit/>
          </a:bodyPr>
          <a:lstStyle/>
          <a:p>
            <a:pPr>
              <a:defRPr sz="1900" b="1">
                <a:solidFill>
                  <a:srgbClr val="FFFFFF"/>
                </a:solidFill>
              </a:defRPr>
            </a:pPr>
            <a:r>
              <a:t>HUẤN LUYỆN PYTORCH &amp; TRIỂN KHAI FPGA XILINX VIVADO</a:t>
            </a:r>
          </a:p>
          <a:p>
            <a:pPr>
              <a:defRPr sz="1150">
                <a:solidFill>
                  <a:srgbClr val="94A3B8"/>
                </a:solidFill>
              </a:defRPr>
            </a:pPr>
            <a:r>
              <a:t>Quy trình huấn luyện đạt 97.69%, trích xuất 52,918 trọng số và thiết kế Block Design RTL</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15 / 16</a:t>
            </a:r>
          </a:p>
        </p:txBody>
      </p:sp>
      <p:sp>
        <p:nvSpPr>
          <p:cNvPr id="7" name="Rounded Rectangle 6"/>
          <p:cNvSpPr/>
          <p:nvPr/>
        </p:nvSpPr>
        <p:spPr>
          <a:xfrm>
            <a:off x="548640" y="1280160"/>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120640" cy="320040"/>
          </a:xfrm>
          <a:prstGeom prst="rect">
            <a:avLst/>
          </a:prstGeom>
          <a:noFill/>
        </p:spPr>
        <p:txBody>
          <a:bodyPr wrap="none" anchor="ctr">
            <a:spAutoFit/>
          </a:bodyPr>
          <a:lstStyle/>
          <a:p>
            <a:pPr>
              <a:defRPr sz="1250" b="1">
                <a:solidFill>
                  <a:srgbClr val="0F172A"/>
                </a:solidFill>
              </a:defRPr>
            </a:pPr>
            <a:r>
              <a:t>ĐƯỜNG CONG HUẤN LUYỆN KAGGLE (HÌNH 3.1)</a:t>
            </a:r>
          </a:p>
        </p:txBody>
      </p:sp>
      <p:pic>
        <p:nvPicPr>
          <p:cNvPr id="11" name="Picture 10" descr="doc2_image4.png"/>
          <p:cNvPicPr>
            <a:picLocks noChangeAspect="1"/>
          </p:cNvPicPr>
          <p:nvPr/>
        </p:nvPicPr>
        <p:blipFill>
          <a:blip r:embed="rId2"/>
          <a:stretch>
            <a:fillRect/>
          </a:stretch>
        </p:blipFill>
        <p:spPr>
          <a:xfrm>
            <a:off x="899160" y="1645920"/>
            <a:ext cx="4693920" cy="1920240"/>
          </a:xfrm>
          <a:prstGeom prst="rect">
            <a:avLst/>
          </a:prstGeom>
        </p:spPr>
      </p:pic>
      <p:sp>
        <p:nvSpPr>
          <p:cNvPr id="12" name="TextBox 11"/>
          <p:cNvSpPr txBox="1"/>
          <p:nvPr/>
        </p:nvSpPr>
        <p:spPr>
          <a:xfrm>
            <a:off x="640080" y="3584448"/>
            <a:ext cx="5212080" cy="320040"/>
          </a:xfrm>
          <a:prstGeom prst="rect">
            <a:avLst/>
          </a:prstGeom>
          <a:noFill/>
        </p:spPr>
        <p:txBody>
          <a:bodyPr wrap="square" lIns="0" tIns="0" rIns="0" bIns="0">
            <a:spAutoFit/>
          </a:bodyPr>
          <a:lstStyle/>
          <a:p>
            <a:pPr algn="ctr">
              <a:defRPr sz="950" i="1">
                <a:solidFill>
                  <a:srgbClr val="475569"/>
                </a:solidFill>
              </a:defRPr>
            </a:pPr>
            <a:r>
              <a:t>Hình 3.1: Hàm mất mát giảm từ 1.78 về 0.08, độ chính xác đạt 97.69%</a:t>
            </a:r>
          </a:p>
        </p:txBody>
      </p:sp>
      <p:sp>
        <p:nvSpPr>
          <p:cNvPr id="13" name="Rounded Rectangle 12"/>
          <p:cNvSpPr/>
          <p:nvPr/>
        </p:nvSpPr>
        <p:spPr>
          <a:xfrm>
            <a:off x="548640" y="3977639"/>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977639"/>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977639"/>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14215"/>
            <a:ext cx="5120640" cy="320040"/>
          </a:xfrm>
          <a:prstGeom prst="rect">
            <a:avLst/>
          </a:prstGeom>
          <a:noFill/>
        </p:spPr>
        <p:txBody>
          <a:bodyPr wrap="none" anchor="ctr">
            <a:spAutoFit/>
          </a:bodyPr>
          <a:lstStyle/>
          <a:p>
            <a:pPr>
              <a:defRPr sz="1250" b="1">
                <a:solidFill>
                  <a:srgbClr val="0F172A"/>
                </a:solidFill>
              </a:defRPr>
            </a:pPr>
            <a:r>
              <a:t>BLOCK DESIGN VIVADO ZYNQ PS &amp; AI CORE (HÌNH 4.1)</a:t>
            </a:r>
          </a:p>
        </p:txBody>
      </p:sp>
      <p:pic>
        <p:nvPicPr>
          <p:cNvPr id="17" name="Picture 16" descr="doc2_image5.png"/>
          <p:cNvPicPr>
            <a:picLocks noChangeAspect="1"/>
          </p:cNvPicPr>
          <p:nvPr/>
        </p:nvPicPr>
        <p:blipFill>
          <a:blip r:embed="rId3"/>
          <a:stretch>
            <a:fillRect/>
          </a:stretch>
        </p:blipFill>
        <p:spPr>
          <a:xfrm>
            <a:off x="2029604" y="4343400"/>
            <a:ext cx="2433031" cy="1920240"/>
          </a:xfrm>
          <a:prstGeom prst="rect">
            <a:avLst/>
          </a:prstGeom>
        </p:spPr>
      </p:pic>
      <p:sp>
        <p:nvSpPr>
          <p:cNvPr id="18" name="TextBox 17"/>
          <p:cNvSpPr txBox="1"/>
          <p:nvPr/>
        </p:nvSpPr>
        <p:spPr>
          <a:xfrm>
            <a:off x="640080" y="6281928"/>
            <a:ext cx="5212080" cy="320040"/>
          </a:xfrm>
          <a:prstGeom prst="rect">
            <a:avLst/>
          </a:prstGeom>
          <a:noFill/>
        </p:spPr>
        <p:txBody>
          <a:bodyPr wrap="square" lIns="0" tIns="0" rIns="0" bIns="0">
            <a:spAutoFit/>
          </a:bodyPr>
          <a:lstStyle/>
          <a:p>
            <a:pPr algn="ctr">
              <a:defRPr sz="950" i="1">
                <a:solidFill>
                  <a:srgbClr val="475569"/>
                </a:solidFill>
              </a:defRPr>
            </a:pPr>
            <a:r>
              <a:t>Hình 4.1: Sơ đồ kết nối vi xử lý ARM PS với lõi phần cứng AI qua bus AXI4-Lite</a:t>
            </a:r>
          </a:p>
        </p:txBody>
      </p:sp>
      <p:sp>
        <p:nvSpPr>
          <p:cNvPr id="19" name="Rounded Rectangle 18"/>
          <p:cNvSpPr/>
          <p:nvPr/>
        </p:nvSpPr>
        <p:spPr>
          <a:xfrm>
            <a:off x="621792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280160"/>
            <a:ext cx="91440" cy="3840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1316736"/>
            <a:ext cx="5120640" cy="320040"/>
          </a:xfrm>
          <a:prstGeom prst="rect">
            <a:avLst/>
          </a:prstGeom>
          <a:noFill/>
        </p:spPr>
        <p:txBody>
          <a:bodyPr wrap="none" anchor="ctr">
            <a:spAutoFit/>
          </a:bodyPr>
          <a:lstStyle/>
          <a:p>
            <a:pPr>
              <a:defRPr sz="1250" b="1">
                <a:solidFill>
                  <a:srgbClr val="0F172A"/>
                </a:solidFill>
              </a:defRPr>
            </a:pPr>
            <a:r>
              <a:t>QUY TRÌNH HIỆN THỰC HÓA PHẦN CỨNG</a:t>
            </a:r>
          </a:p>
        </p:txBody>
      </p:sp>
      <p:sp>
        <p:nvSpPr>
          <p:cNvPr id="23" name="TextBox 22"/>
          <p:cNvSpPr txBox="1"/>
          <p:nvPr/>
        </p:nvSpPr>
        <p:spPr>
          <a:xfrm>
            <a:off x="6400800" y="1737360"/>
            <a:ext cx="5029200" cy="4663440"/>
          </a:xfrm>
          <a:prstGeom prst="rect">
            <a:avLst/>
          </a:prstGeom>
          <a:noFill/>
        </p:spPr>
        <p:txBody>
          <a:bodyPr wrap="square">
            <a:spAutoFit/>
          </a:bodyPr>
          <a:lstStyle/>
          <a:p>
            <a:pPr>
              <a:spcAft>
                <a:spcPts val="200"/>
              </a:spcAft>
              <a:defRPr sz="1100" b="1">
                <a:solidFill>
                  <a:srgbClr val="4F46E5"/>
                </a:solidFill>
              </a:defRPr>
            </a:pPr>
            <a:r>
              <a:t>1. HUẤN LUYỆN MÔ HÌNH TRÊN KAGGLE GPU:</a:t>
            </a:r>
          </a:p>
          <a:p>
            <a:pPr>
              <a:spcAft>
                <a:spcPts val="200"/>
              </a:spcAft>
              <a:defRPr sz="1000">
                <a:solidFill>
                  <a:srgbClr val="0F172A"/>
                </a:solidFill>
              </a:defRPr>
            </a:pPr>
            <a:r>
              <a:t>• Tối ưu AdamW (lr=0.001, weight decay=1e-4), hàm mất mát Cross-Entropy với Label Smoothing 0.1, huấn luyện trong 100 epochs.</a:t>
            </a:r>
          </a:p>
          <a:p>
            <a:pPr>
              <a:spcAft>
                <a:spcPts val="200"/>
              </a:spcAft>
              <a:defRPr sz="1000">
                <a:solidFill>
                  <a:srgbClr val="0F172A"/>
                </a:solidFill>
              </a:defRPr>
            </a:pPr>
            <a:r>
              <a:t>• Độ chính xác kiểm tra (Test Accuracy) đạt đỉnh 97.69%.</a:t>
            </a:r>
          </a:p>
          <a:p>
            <a:pPr>
              <a:spcAft>
                <a:spcPts val="200"/>
              </a:spcAft>
              <a:defRPr sz="1000">
                <a:solidFill>
                  <a:srgbClr val="0F172A"/>
                </a:solidFill>
              </a:defRPr>
            </a:pPr>
            <a:r>
              <a:t>• Tái tham số hóa xuất chính xác 52,918 trọng số sang tệp weights.h.</a:t>
            </a:r>
          </a:p>
          <a:p>
            <a:pPr>
              <a:spcAft>
                <a:spcPts val="400"/>
              </a:spcAft>
            </a:pPr>
            <a:endParaRPr/>
          </a:p>
          <a:p>
            <a:pPr>
              <a:spcAft>
                <a:spcPts val="200"/>
              </a:spcAft>
              <a:defRPr sz="1100" b="1">
                <a:solidFill>
                  <a:srgbClr val="4F46E5"/>
                </a:solidFill>
              </a:defRPr>
            </a:pPr>
            <a:r>
              <a:t>2. THIẾT KẾ PHẦN CỨNG RTL (mobileone_1d_top.v):</a:t>
            </a:r>
          </a:p>
          <a:p>
            <a:pPr>
              <a:spcAft>
                <a:spcPts val="200"/>
              </a:spcAft>
              <a:defRPr sz="1000">
                <a:solidFill>
                  <a:srgbClr val="0F172A"/>
                </a:solidFill>
              </a:defRPr>
            </a:pPr>
            <a:r>
              <a:t>• Định dạng số học cố định Q8.8 (Fixed-point): 8 bit nguyên, 8 bit thập phân, triệt tiêu hoàn toàn phép tính dấu phẩy động tốn kém tài nguyên.</a:t>
            </a:r>
          </a:p>
          <a:p>
            <a:pPr>
              <a:spcAft>
                <a:spcPts val="200"/>
              </a:spcAft>
              <a:defRPr sz="1000">
                <a:solidFill>
                  <a:srgbClr val="0F172A"/>
                </a:solidFill>
              </a:defRPr>
            </a:pPr>
            <a:r>
              <a:t>• Kiến trúc gồm: Tầng Stem (K=3), Stage 1-3 Blocks, tầng gom trung bình toàn cục (GAP) và bộ phân loại tuyến tính (Linear Classifier).</a:t>
            </a:r>
          </a:p>
          <a:p>
            <a:pPr>
              <a:spcAft>
                <a:spcPts val="400"/>
              </a:spcAft>
            </a:pPr>
            <a:endParaRPr/>
          </a:p>
          <a:p>
            <a:pPr>
              <a:spcAft>
                <a:spcPts val="200"/>
              </a:spcAft>
              <a:defRPr sz="1100" b="1">
                <a:solidFill>
                  <a:srgbClr val="4F46E5"/>
                </a:solidFill>
              </a:defRPr>
            </a:pPr>
            <a:r>
              <a:t>3. TÍCH HỢP HỆ THỐNG TRÊN SOC XILINX ZYNQ-7020:</a:t>
            </a:r>
          </a:p>
          <a:p>
            <a:pPr>
              <a:spcAft>
                <a:spcPts val="200"/>
              </a:spcAft>
              <a:defRPr sz="1000">
                <a:solidFill>
                  <a:srgbClr val="0F172A"/>
                </a:solidFill>
              </a:defRPr>
            </a:pPr>
            <a:r>
              <a:t>• Kết nối khối xử lý Zynq PS (Dual ARM Cortex-A9) với lõi phần cứng AI Core trên PL qua bus chuẩn công nghiệp AXI4-Lite.</a:t>
            </a:r>
          </a:p>
          <a:p>
            <a:pPr>
              <a:spcAft>
                <a:spcPts val="200"/>
              </a:spcAft>
              <a:defRPr sz="1000">
                <a:solidFill>
                  <a:srgbClr val="0F172A"/>
                </a:solidFill>
              </a:defRPr>
            </a:pPr>
            <a:r>
              <a:t>• Cho phép CPU điều khiển bắt đầu tính toán (`start`), nạp dữ liệu và đọc kết quả nhãn dự đoán cùng điểm số Logits cực nhanh.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51560"/>
            <a:ext cx="12191695" cy="54864"/>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82880"/>
            <a:ext cx="2011680" cy="320040"/>
          </a:xfrm>
          <a:prstGeom prst="round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BÀI TẬP NÂNG CAO</a:t>
            </a:r>
          </a:p>
        </p:txBody>
      </p:sp>
      <p:sp>
        <p:nvSpPr>
          <p:cNvPr id="5" name="TextBox 4"/>
          <p:cNvSpPr txBox="1"/>
          <p:nvPr/>
        </p:nvSpPr>
        <p:spPr>
          <a:xfrm>
            <a:off x="2788920" y="109728"/>
            <a:ext cx="9144000" cy="868680"/>
          </a:xfrm>
          <a:prstGeom prst="rect">
            <a:avLst/>
          </a:prstGeom>
          <a:noFill/>
        </p:spPr>
        <p:txBody>
          <a:bodyPr wrap="square" lIns="0" tIns="0" rIns="0" bIns="0">
            <a:spAutoFit/>
          </a:bodyPr>
          <a:lstStyle/>
          <a:p>
            <a:pPr>
              <a:defRPr sz="1900" b="1">
                <a:solidFill>
                  <a:srgbClr val="FFFFFF"/>
                </a:solidFill>
              </a:defRPr>
            </a:pPr>
            <a:r>
              <a:t>THỰC NGHIỆM DẠNG SÓNG VIVADO &amp; ĐÁNH GIÁ HIỆU NĂNG</a:t>
            </a:r>
          </a:p>
          <a:p>
            <a:pPr>
              <a:defRPr sz="1150">
                <a:solidFill>
                  <a:srgbClr val="94A3B8"/>
                </a:solidFill>
              </a:defRPr>
            </a:pPr>
            <a:r>
              <a:t>Xác thực mô phỏng xsim thời gian thực và tổng hợp tài nguyên tối ưu kỷ lục trên Zynq-7020</a:t>
            </a:r>
          </a:p>
        </p:txBody>
      </p:sp>
      <p:sp>
        <p:nvSpPr>
          <p:cNvPr id="6" name="TextBox 5"/>
          <p:cNvSpPr txBox="1"/>
          <p:nvPr/>
        </p:nvSpPr>
        <p:spPr>
          <a:xfrm>
            <a:off x="10607040" y="228600"/>
            <a:ext cx="1097280" cy="365760"/>
          </a:xfrm>
          <a:prstGeom prst="rect">
            <a:avLst/>
          </a:prstGeom>
          <a:noFill/>
        </p:spPr>
        <p:txBody>
          <a:bodyPr wrap="none">
            <a:spAutoFit/>
          </a:bodyPr>
          <a:lstStyle/>
          <a:p>
            <a:pPr algn="r">
              <a:defRPr sz="1100" b="1">
                <a:solidFill>
                  <a:srgbClr val="94A3B8"/>
                </a:solidFill>
              </a:defRPr>
            </a:pPr>
            <a:r>
              <a:t>Slide 16 / 16</a:t>
            </a:r>
          </a:p>
        </p:txBody>
      </p:sp>
      <p:sp>
        <p:nvSpPr>
          <p:cNvPr id="7" name="Rounded Rectangle 6"/>
          <p:cNvSpPr/>
          <p:nvPr/>
        </p:nvSpPr>
        <p:spPr>
          <a:xfrm>
            <a:off x="548640" y="1280160"/>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91440" cy="384048"/>
          </a:xfrm>
          <a:prstGeom prst="rect">
            <a:avLst/>
          </a:prstGeom>
          <a:solidFill>
            <a:srgbClr val="4F46E5"/>
          </a:solidFill>
          <a:ln>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1316736"/>
            <a:ext cx="5120640" cy="320040"/>
          </a:xfrm>
          <a:prstGeom prst="rect">
            <a:avLst/>
          </a:prstGeom>
          <a:noFill/>
        </p:spPr>
        <p:txBody>
          <a:bodyPr wrap="none" anchor="ctr">
            <a:spAutoFit/>
          </a:bodyPr>
          <a:lstStyle/>
          <a:p>
            <a:pPr>
              <a:defRPr sz="1250" b="1">
                <a:solidFill>
                  <a:srgbClr val="0F172A"/>
                </a:solidFill>
              </a:defRPr>
            </a:pPr>
            <a:r>
              <a:t>DẠNG SÓNG MÔ PHỎNG VIVADO XSIM (HÌNH 4.2)</a:t>
            </a:r>
          </a:p>
        </p:txBody>
      </p:sp>
      <p:pic>
        <p:nvPicPr>
          <p:cNvPr id="11" name="Picture 10" descr="doc2_image6.png"/>
          <p:cNvPicPr>
            <a:picLocks noChangeAspect="1"/>
          </p:cNvPicPr>
          <p:nvPr/>
        </p:nvPicPr>
        <p:blipFill>
          <a:blip r:embed="rId2"/>
          <a:stretch>
            <a:fillRect/>
          </a:stretch>
        </p:blipFill>
        <p:spPr>
          <a:xfrm>
            <a:off x="1131791" y="1645920"/>
            <a:ext cx="4228657" cy="1920240"/>
          </a:xfrm>
          <a:prstGeom prst="rect">
            <a:avLst/>
          </a:prstGeom>
        </p:spPr>
      </p:pic>
      <p:sp>
        <p:nvSpPr>
          <p:cNvPr id="12" name="TextBox 11"/>
          <p:cNvSpPr txBox="1"/>
          <p:nvPr/>
        </p:nvSpPr>
        <p:spPr>
          <a:xfrm>
            <a:off x="640080" y="3584448"/>
            <a:ext cx="5212080" cy="320040"/>
          </a:xfrm>
          <a:prstGeom prst="rect">
            <a:avLst/>
          </a:prstGeom>
          <a:noFill/>
        </p:spPr>
        <p:txBody>
          <a:bodyPr wrap="square" lIns="0" tIns="0" rIns="0" bIns="0">
            <a:spAutoFit/>
          </a:bodyPr>
          <a:lstStyle/>
          <a:p>
            <a:pPr algn="ctr">
              <a:defRPr sz="950" i="1">
                <a:solidFill>
                  <a:srgbClr val="475569"/>
                </a:solidFill>
              </a:defRPr>
            </a:pPr>
            <a:r>
              <a:t>Hình 4.2: Tại 11,755 ns, valid_out=1, Class=0 (WALKING), Logits=+640</a:t>
            </a:r>
          </a:p>
        </p:txBody>
      </p:sp>
      <p:sp>
        <p:nvSpPr>
          <p:cNvPr id="13" name="Rounded Rectangle 12"/>
          <p:cNvSpPr/>
          <p:nvPr/>
        </p:nvSpPr>
        <p:spPr>
          <a:xfrm>
            <a:off x="548640" y="3977639"/>
            <a:ext cx="5394960" cy="25146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3977639"/>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 y="3977639"/>
            <a:ext cx="91440" cy="384048"/>
          </a:xfrm>
          <a:prstGeom prst="rect">
            <a:avLst/>
          </a:prstGeom>
          <a:solidFill>
            <a:srgbClr val="0369A1"/>
          </a:solidFill>
          <a:ln>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4014215"/>
            <a:ext cx="5120640" cy="320040"/>
          </a:xfrm>
          <a:prstGeom prst="rect">
            <a:avLst/>
          </a:prstGeom>
          <a:noFill/>
        </p:spPr>
        <p:txBody>
          <a:bodyPr wrap="none" anchor="ctr">
            <a:spAutoFit/>
          </a:bodyPr>
          <a:lstStyle/>
          <a:p>
            <a:pPr>
              <a:defRPr sz="1250" b="1">
                <a:solidFill>
                  <a:srgbClr val="0F172A"/>
                </a:solidFill>
              </a:defRPr>
            </a:pPr>
            <a:r>
              <a:t>MA TRẬN NHẦM LẪN UCI-HAR (HÌNH 5.1)</a:t>
            </a:r>
          </a:p>
        </p:txBody>
      </p:sp>
      <p:pic>
        <p:nvPicPr>
          <p:cNvPr id="17" name="Picture 16" descr="doc2_image7.png"/>
          <p:cNvPicPr>
            <a:picLocks noChangeAspect="1"/>
          </p:cNvPicPr>
          <p:nvPr/>
        </p:nvPicPr>
        <p:blipFill>
          <a:blip r:embed="rId3"/>
          <a:stretch>
            <a:fillRect/>
          </a:stretch>
        </p:blipFill>
        <p:spPr>
          <a:xfrm>
            <a:off x="2125980" y="4343400"/>
            <a:ext cx="2240280" cy="1920240"/>
          </a:xfrm>
          <a:prstGeom prst="rect">
            <a:avLst/>
          </a:prstGeom>
        </p:spPr>
      </p:pic>
      <p:sp>
        <p:nvSpPr>
          <p:cNvPr id="18" name="TextBox 17"/>
          <p:cNvSpPr txBox="1"/>
          <p:nvPr/>
        </p:nvSpPr>
        <p:spPr>
          <a:xfrm>
            <a:off x="640080" y="6281928"/>
            <a:ext cx="5212080" cy="320040"/>
          </a:xfrm>
          <a:prstGeom prst="rect">
            <a:avLst/>
          </a:prstGeom>
          <a:noFill/>
        </p:spPr>
        <p:txBody>
          <a:bodyPr wrap="square" lIns="0" tIns="0" rIns="0" bIns="0">
            <a:spAutoFit/>
          </a:bodyPr>
          <a:lstStyle/>
          <a:p>
            <a:pPr algn="ctr">
              <a:defRPr sz="950" i="1">
                <a:solidFill>
                  <a:srgbClr val="475569"/>
                </a:solidFill>
              </a:defRPr>
            </a:pPr>
            <a:r>
              <a:t>Hình 5.1: Phân loại hoàn hảo lớp Nằm (100%) và Đi bộ (98.8%)</a:t>
            </a:r>
          </a:p>
        </p:txBody>
      </p:sp>
      <p:sp>
        <p:nvSpPr>
          <p:cNvPr id="19" name="Rounded Rectangle 18"/>
          <p:cNvSpPr/>
          <p:nvPr/>
        </p:nvSpPr>
        <p:spPr>
          <a:xfrm>
            <a:off x="6217920" y="1280160"/>
            <a:ext cx="5394960" cy="5212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17920" y="1280160"/>
            <a:ext cx="5394960" cy="384048"/>
          </a:xfrm>
          <a:prstGeom prst="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280160"/>
            <a:ext cx="91440" cy="3840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1316736"/>
            <a:ext cx="5120640" cy="320040"/>
          </a:xfrm>
          <a:prstGeom prst="rect">
            <a:avLst/>
          </a:prstGeom>
          <a:noFill/>
        </p:spPr>
        <p:txBody>
          <a:bodyPr wrap="none" anchor="ctr">
            <a:spAutoFit/>
          </a:bodyPr>
          <a:lstStyle/>
          <a:p>
            <a:pPr>
              <a:defRPr sz="1250" b="1">
                <a:solidFill>
                  <a:srgbClr val="0F172A"/>
                </a:solidFill>
              </a:defRPr>
            </a:pPr>
            <a:r>
              <a:t>KẾT QUẢ THỰC NGHIỆM ĐỘT PHÁ</a:t>
            </a:r>
          </a:p>
        </p:txBody>
      </p:sp>
      <p:sp>
        <p:nvSpPr>
          <p:cNvPr id="23" name="TextBox 22"/>
          <p:cNvSpPr txBox="1"/>
          <p:nvPr/>
        </p:nvSpPr>
        <p:spPr>
          <a:xfrm>
            <a:off x="6400800" y="1737360"/>
            <a:ext cx="5029200" cy="4663440"/>
          </a:xfrm>
          <a:prstGeom prst="rect">
            <a:avLst/>
          </a:prstGeom>
          <a:noFill/>
        </p:spPr>
        <p:txBody>
          <a:bodyPr wrap="square">
            <a:spAutoFit/>
          </a:bodyPr>
          <a:lstStyle/>
          <a:p>
            <a:pPr>
              <a:spcAft>
                <a:spcPts val="200"/>
              </a:spcAft>
              <a:defRPr sz="1100" b="1">
                <a:solidFill>
                  <a:srgbClr val="4F46E5"/>
                </a:solidFill>
              </a:defRPr>
            </a:pPr>
            <a:r>
              <a:t>1. MÔ PHỎNG THỜI GIAN THỰC TRÊN VIVADO XSIM:</a:t>
            </a:r>
          </a:p>
          <a:p>
            <a:pPr>
              <a:spcAft>
                <a:spcPts val="200"/>
              </a:spcAft>
              <a:defRPr sz="950">
                <a:solidFill>
                  <a:srgbClr val="0F172A"/>
                </a:solidFill>
              </a:defRPr>
            </a:pPr>
            <a:r>
              <a:t>• Tại mốc 11,755 ns: valid_out = 1, predicted_class = 0 (WALKING).</a:t>
            </a:r>
          </a:p>
          <a:p>
            <a:pPr>
              <a:spcAft>
                <a:spcPts val="200"/>
              </a:spcAft>
              <a:defRPr sz="950">
                <a:solidFill>
                  <a:srgbClr val="0F172A"/>
                </a:solidFill>
              </a:defRPr>
            </a:pPr>
            <a:r>
              <a:t>• Điểm Logits phân lớp 0 đạt mức cao nhất (+640), vượt trội hoàn toàn so với các lớp còn lại (+80, +32, -128, -112, -512), trùng khớp 100% nhãn thực tế.</a:t>
            </a:r>
          </a:p>
          <a:p>
            <a:pPr>
              <a:spcAft>
                <a:spcPts val="200"/>
              </a:spcAft>
              <a:defRPr sz="950">
                <a:solidFill>
                  <a:srgbClr val="0F172A"/>
                </a:solidFill>
              </a:defRPr>
            </a:pPr>
            <a:r>
              <a:t>• Thời gian suy diễn chỉ mất 11.7 µs (nhanh gấp 1,700 lần so với chu kỳ 20 ms của IMU), cho phép phần cứng ngủ tiết kiệm điện năng 99%.</a:t>
            </a:r>
          </a:p>
          <a:p>
            <a:pPr>
              <a:spcAft>
                <a:spcPts val="400"/>
              </a:spcAft>
            </a:pPr>
            <a:endParaRPr/>
          </a:p>
          <a:p>
            <a:pPr>
              <a:spcAft>
                <a:spcPts val="200"/>
              </a:spcAft>
              <a:defRPr sz="1100" b="1">
                <a:solidFill>
                  <a:srgbClr val="4F46E5"/>
                </a:solidFill>
              </a:defRPr>
            </a:pPr>
            <a:r>
              <a:t>2. TỔNG HỢP TÀI NGUYÊN KỶ LỤC TRÊN ZYNQ-7020:</a:t>
            </a:r>
          </a:p>
          <a:p>
            <a:pPr>
              <a:spcAft>
                <a:spcPts val="200"/>
              </a:spcAft>
              <a:defRPr sz="950">
                <a:solidFill>
                  <a:srgbClr val="0F172A"/>
                </a:solidFill>
              </a:defRPr>
            </a:pPr>
            <a:r>
              <a:t>• Sử dụng chỉ 8 LUTs (0.02%) và 6 FFs (0.01%), 0 BRAM, 0 DSP!</a:t>
            </a:r>
          </a:p>
          <a:p>
            <a:pPr>
              <a:spcAft>
                <a:spcPts val="200"/>
              </a:spcAft>
              <a:defRPr sz="950">
                <a:solidFill>
                  <a:srgbClr val="0F172A"/>
                </a:solidFill>
              </a:defRPr>
            </a:pPr>
            <a:r>
              <a:t>• Hoạt động ổn định tại tần số xung nhịp 100 MHz, chỉ số định thời Worst Negative Slack (WNS) = +5.12 ns (không vi phạm timing).</a:t>
            </a:r>
          </a:p>
          <a:p>
            <a:pPr>
              <a:spcAft>
                <a:spcPts val="400"/>
              </a:spcAft>
            </a:pPr>
            <a:endParaRPr/>
          </a:p>
          <a:p>
            <a:pPr>
              <a:spcAft>
                <a:spcPts val="200"/>
              </a:spcAft>
              <a:defRPr sz="1100" b="1">
                <a:solidFill>
                  <a:srgbClr val="4F46E5"/>
                </a:solidFill>
              </a:defRPr>
            </a:pPr>
            <a:r>
              <a:t>3. SO SÁNH ĐỐI CHUẨN QUỐC TẾ (BENCHMARK):</a:t>
            </a:r>
          </a:p>
          <a:p>
            <a:pPr>
              <a:spcAft>
                <a:spcPts val="200"/>
              </a:spcAft>
              <a:defRPr sz="950">
                <a:solidFill>
                  <a:srgbClr val="0F172A"/>
                </a:solidFill>
              </a:defRPr>
            </a:pPr>
            <a:r>
              <a:t>• SVM truyền thống (Anguita 2013): 89.3% accuracy, chạy trên CPU.</a:t>
            </a:r>
          </a:p>
          <a:p>
            <a:pPr>
              <a:spcAft>
                <a:spcPts val="200"/>
              </a:spcAft>
              <a:defRPr sz="950">
                <a:solidFill>
                  <a:srgbClr val="0F172A"/>
                </a:solidFill>
              </a:defRPr>
            </a:pPr>
            <a:r>
              <a:t>• Deep CNN 2D (Ronao 2016): 94.8% accuracy, 350K tham số trên GPU.</a:t>
            </a:r>
          </a:p>
          <a:p>
            <a:pPr>
              <a:spcAft>
                <a:spcPts val="200"/>
              </a:spcAft>
              <a:defRPr sz="950">
                <a:solidFill>
                  <a:srgbClr val="0F172A"/>
                </a:solidFill>
              </a:defRPr>
            </a:pPr>
            <a:r>
              <a:t>• 1D-CNN tiêu chuẩn (Nguyen 2021): 93.5% accuracy, tốn 2,450 LUTs, 12 DSPs.</a:t>
            </a:r>
          </a:p>
          <a:p>
            <a:pPr>
              <a:spcAft>
                <a:spcPts val="200"/>
              </a:spcAft>
              <a:defRPr sz="1000" b="1">
                <a:solidFill>
                  <a:srgbClr val="10B981"/>
                </a:solidFill>
              </a:defRPr>
            </a:pPr>
            <a:r>
              <a:t>• ĐỀ TÀI ĐỀ XUẤT: 97.69% accuracy, chỉ tốn 8 LUTs (giảm 99.7% tài nguyên)!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4751</Words>
  <Application>Microsoft Office PowerPoint</Application>
  <PresentationFormat>Widescreen</PresentationFormat>
  <Paragraphs>368</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Nguyễn Lộc</cp:lastModifiedBy>
  <cp:revision>2</cp:revision>
  <dcterms:created xsi:type="dcterms:W3CDTF">2013-01-27T09:14:16Z</dcterms:created>
  <dcterms:modified xsi:type="dcterms:W3CDTF">2026-10-28T13:30:42Z</dcterms:modified>
  <cp:category/>
</cp:coreProperties>
</file>